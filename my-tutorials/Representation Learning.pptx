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1" d="100"/>
          <a:sy n="151" d="100"/>
        </p:scale>
        <p:origin x="6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27104-626B-496E-8144-16F7C24B33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896740-B49B-40BF-B049-6167CE1A56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C58834-4B40-4DA3-B6C3-B253FBD82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D0E9C-48A1-4B29-8A4A-E7187B64900D}" type="datetimeFigureOut">
              <a:rPr lang="en-US" smtClean="0"/>
              <a:t>7/9/2024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FE6BAD-7800-442B-B35E-A45A9DE62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02B86-5EBA-4136-AFA0-1782F585F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706FB-0377-499B-90E1-1C11DA1B3A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554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C30BC-997D-48AB-9E6C-76E502924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0B640-0C52-491D-8B9C-EFF8EEDB6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19A153-55DE-4789-AB48-0825529F2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D0E9C-48A1-4B29-8A4A-E7187B64900D}" type="datetimeFigureOut">
              <a:rPr lang="en-US" smtClean="0"/>
              <a:t>7/9/2024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AA83F7-3835-482C-A639-0E9ACD449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D94150-BC5F-46DB-8084-494917582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706FB-0377-499B-90E1-1C11DA1B3A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963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F0923-BE0E-4E77-8404-0B64E763C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FE9A63-31F5-481F-B32A-47DE25999F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237BFD-6485-4E16-A473-F89AD1E97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D0E9C-48A1-4B29-8A4A-E7187B64900D}" type="datetimeFigureOut">
              <a:rPr lang="en-US" smtClean="0"/>
              <a:t>7/9/2024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6D353F-4F03-4B3D-9E20-C4D865BFE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C50623-B6FF-4413-A51A-359892BE7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706FB-0377-499B-90E1-1C11DA1B3A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42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729F8-81BC-4331-9765-3B8174346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7D90C-91C4-40ED-9F83-C21EB31E1C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89667C-EBCF-4A04-9F4F-243A56FC08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FB891E-AE63-4D3C-9CB0-37BA07B0A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D0E9C-48A1-4B29-8A4A-E7187B64900D}" type="datetimeFigureOut">
              <a:rPr lang="en-US" smtClean="0"/>
              <a:t>7/9/2024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F874FF-694D-4283-BA22-C767A7B4E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BEB0AA-3911-4DB6-8795-93B17943C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706FB-0377-499B-90E1-1C11DA1B3A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267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7BA42-7450-4147-AC97-9F504E421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31997B-B715-4F9C-9EEB-0C17C4C7F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1F8FF5-02A6-4E6A-8AB5-CD089D23B2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420844-EB53-4048-86A5-047D737AAF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3BF031-CA16-45DB-9C67-204E26D208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DAB22B-D430-4AD2-8BBB-54540AEBC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D0E9C-48A1-4B29-8A4A-E7187B64900D}" type="datetimeFigureOut">
              <a:rPr lang="en-US" smtClean="0"/>
              <a:t>7/9/2024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8801DE-339F-4991-98F1-52C35A0A0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42CFFE-454D-477C-B762-DB48E8061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706FB-0377-499B-90E1-1C11DA1B3A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477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3CDEB-2505-43E6-882F-5057C39ED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348DA1-3F34-4C56-9B05-772CB6B0F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D0E9C-48A1-4B29-8A4A-E7187B64900D}" type="datetimeFigureOut">
              <a:rPr lang="en-US" smtClean="0"/>
              <a:t>7/9/2024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5B5768-D169-414D-B306-F250C75F4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A865EA-4833-4549-B44A-2958C4B84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706FB-0377-499B-90E1-1C11DA1B3A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113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4F1F6B-2293-427F-8BD3-DD55B501D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D0E9C-48A1-4B29-8A4A-E7187B64900D}" type="datetimeFigureOut">
              <a:rPr lang="en-US" smtClean="0"/>
              <a:t>7/9/2024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D140C9-6951-426D-9130-FF47A94B8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A9313F-6E40-475D-A3C3-EDEF2D95F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706FB-0377-499B-90E1-1C11DA1B3A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215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9915A-8210-409C-BFC2-5B2FF6D7C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FBEC4-3A0E-4517-98E9-2A9E893BA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5769FE-3805-4239-9B2B-733F2E9C8A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57906C-2834-4513-8502-1295C95D1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D0E9C-48A1-4B29-8A4A-E7187B64900D}" type="datetimeFigureOut">
              <a:rPr lang="en-US" smtClean="0"/>
              <a:t>7/9/2024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9B7DA3-780F-4CCD-A51E-8AA7F4DA7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5DD1CE-E713-4104-B030-0B27A1D2F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706FB-0377-499B-90E1-1C11DA1B3A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432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CB601-B418-4561-B379-2415C8A9D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4775C0-A3EA-47BC-8FA4-E97A429571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C941BD-9D9F-40C6-B911-5457935B3A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1C67A5-211F-4DF4-8FC9-45AEE9AA6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D0E9C-48A1-4B29-8A4A-E7187B64900D}" type="datetimeFigureOut">
              <a:rPr lang="en-US" smtClean="0"/>
              <a:t>7/9/2024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B99261-6B75-4840-8D01-78B6B54EE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762A1A-67BC-4089-B5CA-2F20118B1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706FB-0377-499B-90E1-1C11DA1B3A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200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0D2A0-AFFD-44D5-ADA2-46460DDB2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8FC5B0-AB8C-4AFC-AF09-FB17D3D149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24E7F1-0111-4520-874C-037918EF3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D0E9C-48A1-4B29-8A4A-E7187B64900D}" type="datetimeFigureOut">
              <a:rPr lang="en-US" smtClean="0"/>
              <a:t>7/9/2024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93009-DBF0-4101-AE78-84AFCF7B5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7AD2A-7AB6-4CA3-8BA5-78305E16F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706FB-0377-499B-90E1-1C11DA1B3A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211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176EB9-CAA4-4E8A-A1A0-ACAA2B4196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800241-DC20-4AC6-BD13-AFE495BFD7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590F3-87DD-4588-8697-D6C499142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D0E9C-48A1-4B29-8A4A-E7187B64900D}" type="datetimeFigureOut">
              <a:rPr lang="en-US" smtClean="0"/>
              <a:t>7/9/2024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D2334-2AE2-4E70-8767-B0E50E817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67096-CD15-4E1C-ACC1-D9E6DB855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706FB-0377-499B-90E1-1C11DA1B3A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72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713FD8-C966-4310-B892-B06D1047B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5449CB-B2EA-44C4-B79A-290635E416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C717D-9EFE-4484-96A9-1B2856924E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8D0E9C-48A1-4B29-8A4A-E7187B64900D}" type="datetimeFigureOut">
              <a:rPr lang="en-US" smtClean="0"/>
              <a:t>7/9/2024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22E9C-BB8E-4AAA-8F5E-978DEBECE8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AE1F0-7D7F-4638-88E4-FE0E4CB837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0706FB-0377-499B-90E1-1C11DA1B3A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914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94470-CDB7-45CB-99C4-E112FCCCE5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Representation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135769-3E54-49F9-8445-DD01DBFD09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389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EA8A78C-8E5A-47B5-887B-8128B1D5B2A2}"/>
              </a:ext>
            </a:extLst>
          </p:cNvPr>
          <p:cNvSpPr/>
          <p:nvPr/>
        </p:nvSpPr>
        <p:spPr>
          <a:xfrm>
            <a:off x="998677" y="1276789"/>
            <a:ext cx="84277" cy="8427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EF3B195-AB9C-44AA-A309-49D1AF727149}"/>
              </a:ext>
            </a:extLst>
          </p:cNvPr>
          <p:cNvSpPr/>
          <p:nvPr/>
        </p:nvSpPr>
        <p:spPr>
          <a:xfrm>
            <a:off x="1219200" y="1163015"/>
            <a:ext cx="84277" cy="8427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E556B37-7621-4FAA-8820-8879394153FC}"/>
              </a:ext>
            </a:extLst>
          </p:cNvPr>
          <p:cNvSpPr/>
          <p:nvPr/>
        </p:nvSpPr>
        <p:spPr>
          <a:xfrm>
            <a:off x="1082954" y="1477999"/>
            <a:ext cx="84277" cy="8427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6315EB7-8DD3-42E0-B138-A6CF1B5A5DE4}"/>
              </a:ext>
            </a:extLst>
          </p:cNvPr>
          <p:cNvSpPr/>
          <p:nvPr/>
        </p:nvSpPr>
        <p:spPr>
          <a:xfrm>
            <a:off x="1179168" y="1333675"/>
            <a:ext cx="84277" cy="8427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5F0F260-7B32-48C5-820C-FF4E248CBE89}"/>
              </a:ext>
            </a:extLst>
          </p:cNvPr>
          <p:cNvSpPr/>
          <p:nvPr/>
        </p:nvSpPr>
        <p:spPr>
          <a:xfrm>
            <a:off x="1498717" y="1721348"/>
            <a:ext cx="84277" cy="8427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28C9FAC-91AD-44EE-9DC3-FE17A820B64F}"/>
              </a:ext>
            </a:extLst>
          </p:cNvPr>
          <p:cNvSpPr/>
          <p:nvPr/>
        </p:nvSpPr>
        <p:spPr>
          <a:xfrm>
            <a:off x="1618110" y="1728722"/>
            <a:ext cx="84277" cy="8427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5D4FCE4-2BA1-49DA-9E16-7D9F52537DF1}"/>
              </a:ext>
            </a:extLst>
          </p:cNvPr>
          <p:cNvSpPr/>
          <p:nvPr/>
        </p:nvSpPr>
        <p:spPr>
          <a:xfrm>
            <a:off x="1456579" y="1276789"/>
            <a:ext cx="84277" cy="8427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CE1F4FC-1BA0-46E0-97B9-319832626EF1}"/>
              </a:ext>
            </a:extLst>
          </p:cNvPr>
          <p:cNvSpPr/>
          <p:nvPr/>
        </p:nvSpPr>
        <p:spPr>
          <a:xfrm>
            <a:off x="1630049" y="1573865"/>
            <a:ext cx="84277" cy="8427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A11CE64-CD84-4DA0-B89F-FFE0C9F40387}"/>
              </a:ext>
            </a:extLst>
          </p:cNvPr>
          <p:cNvSpPr/>
          <p:nvPr/>
        </p:nvSpPr>
        <p:spPr>
          <a:xfrm>
            <a:off x="1757869" y="1637071"/>
            <a:ext cx="84277" cy="8427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B2D60BA-E845-4ACA-AA79-0CDBF8B17FAC}"/>
              </a:ext>
            </a:extLst>
          </p:cNvPr>
          <p:cNvSpPr/>
          <p:nvPr/>
        </p:nvSpPr>
        <p:spPr>
          <a:xfrm>
            <a:off x="1775427" y="1812999"/>
            <a:ext cx="84277" cy="8427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7ED0CF5-1D86-493E-82C1-76FBB4DC3526}"/>
              </a:ext>
            </a:extLst>
          </p:cNvPr>
          <p:cNvSpPr/>
          <p:nvPr/>
        </p:nvSpPr>
        <p:spPr>
          <a:xfrm>
            <a:off x="1630049" y="1054508"/>
            <a:ext cx="84277" cy="842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9A54B2C-CFAB-4A65-8995-0BF0CF7EF3F9}"/>
              </a:ext>
            </a:extLst>
          </p:cNvPr>
          <p:cNvSpPr/>
          <p:nvPr/>
        </p:nvSpPr>
        <p:spPr>
          <a:xfrm>
            <a:off x="1782449" y="1206908"/>
            <a:ext cx="84277" cy="842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6629FF7-810B-486A-B168-94B041DBFBD3}"/>
              </a:ext>
            </a:extLst>
          </p:cNvPr>
          <p:cNvSpPr/>
          <p:nvPr/>
        </p:nvSpPr>
        <p:spPr>
          <a:xfrm>
            <a:off x="1842146" y="1073118"/>
            <a:ext cx="84277" cy="842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79F2AA3-7550-4C50-9FF3-F7C15B744B07}"/>
              </a:ext>
            </a:extLst>
          </p:cNvPr>
          <p:cNvCxnSpPr/>
          <p:nvPr/>
        </p:nvCxnSpPr>
        <p:spPr>
          <a:xfrm>
            <a:off x="2393453" y="1361066"/>
            <a:ext cx="11630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9D0FBAA-D5CD-4B55-A40B-ACD4CBC136D0}"/>
              </a:ext>
            </a:extLst>
          </p:cNvPr>
          <p:cNvSpPr txBox="1"/>
          <p:nvPr/>
        </p:nvSpPr>
        <p:spPr>
          <a:xfrm>
            <a:off x="2205235" y="1095239"/>
            <a:ext cx="15394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/>
              <a:t>Positive Pair Training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97913F6-24E9-4E67-AA41-9DF90CE3B858}"/>
              </a:ext>
            </a:extLst>
          </p:cNvPr>
          <p:cNvSpPr/>
          <p:nvPr/>
        </p:nvSpPr>
        <p:spPr>
          <a:xfrm>
            <a:off x="4045791" y="1226044"/>
            <a:ext cx="261609" cy="26160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68E3C6-ABD3-4A3B-AB04-402DABB816E8}"/>
              </a:ext>
            </a:extLst>
          </p:cNvPr>
          <p:cNvSpPr txBox="1"/>
          <p:nvPr/>
        </p:nvSpPr>
        <p:spPr>
          <a:xfrm>
            <a:off x="728992" y="2049151"/>
            <a:ext cx="15394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i="1"/>
              <a:t>Input space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18EDE3A-8257-45E7-93F7-3F4F926FA377}"/>
              </a:ext>
            </a:extLst>
          </p:cNvPr>
          <p:cNvSpPr txBox="1"/>
          <p:nvPr/>
        </p:nvSpPr>
        <p:spPr>
          <a:xfrm>
            <a:off x="3443398" y="2049151"/>
            <a:ext cx="15394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i="1"/>
              <a:t>embedding space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48843D-B465-4998-A76B-6A26DCEB8E98}"/>
              </a:ext>
            </a:extLst>
          </p:cNvPr>
          <p:cNvSpPr txBox="1"/>
          <p:nvPr/>
        </p:nvSpPr>
        <p:spPr>
          <a:xfrm>
            <a:off x="2158883" y="2423482"/>
            <a:ext cx="1539449" cy="2616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/>
              <a:t>Complete Collapse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7125A83-41FE-4FFA-A8EB-014E9AACCCB3}"/>
              </a:ext>
            </a:extLst>
          </p:cNvPr>
          <p:cNvSpPr/>
          <p:nvPr/>
        </p:nvSpPr>
        <p:spPr>
          <a:xfrm>
            <a:off x="1007976" y="3876005"/>
            <a:ext cx="84277" cy="8427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4069081-9E59-494A-9458-08D73D26D760}"/>
              </a:ext>
            </a:extLst>
          </p:cNvPr>
          <p:cNvSpPr/>
          <p:nvPr/>
        </p:nvSpPr>
        <p:spPr>
          <a:xfrm>
            <a:off x="1228499" y="3762231"/>
            <a:ext cx="84277" cy="8427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9A00FAF-F8AF-49BD-BA11-8D32E58D352B}"/>
              </a:ext>
            </a:extLst>
          </p:cNvPr>
          <p:cNvSpPr/>
          <p:nvPr/>
        </p:nvSpPr>
        <p:spPr>
          <a:xfrm>
            <a:off x="1092253" y="4077215"/>
            <a:ext cx="84277" cy="8427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FD24469-2EE7-42C5-B63F-AEA6A27CC580}"/>
              </a:ext>
            </a:extLst>
          </p:cNvPr>
          <p:cNvSpPr/>
          <p:nvPr/>
        </p:nvSpPr>
        <p:spPr>
          <a:xfrm>
            <a:off x="1188467" y="3932891"/>
            <a:ext cx="84277" cy="8427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4E05BC8-17EA-4E06-866F-9D5AF38854D1}"/>
              </a:ext>
            </a:extLst>
          </p:cNvPr>
          <p:cNvSpPr/>
          <p:nvPr/>
        </p:nvSpPr>
        <p:spPr>
          <a:xfrm>
            <a:off x="1508016" y="4320564"/>
            <a:ext cx="84277" cy="8427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5B910AF-AE6E-471D-AB18-AD37E528B3F0}"/>
              </a:ext>
            </a:extLst>
          </p:cNvPr>
          <p:cNvSpPr/>
          <p:nvPr/>
        </p:nvSpPr>
        <p:spPr>
          <a:xfrm>
            <a:off x="1627409" y="4327938"/>
            <a:ext cx="84277" cy="8427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6AC4D60-00C6-419A-9C73-AC9570A6FA93}"/>
              </a:ext>
            </a:extLst>
          </p:cNvPr>
          <p:cNvSpPr/>
          <p:nvPr/>
        </p:nvSpPr>
        <p:spPr>
          <a:xfrm>
            <a:off x="1465878" y="3876005"/>
            <a:ext cx="84277" cy="8427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6E616D2-116C-4E01-8CED-91B19B3B79BB}"/>
              </a:ext>
            </a:extLst>
          </p:cNvPr>
          <p:cNvSpPr/>
          <p:nvPr/>
        </p:nvSpPr>
        <p:spPr>
          <a:xfrm>
            <a:off x="1639348" y="4173081"/>
            <a:ext cx="84277" cy="8427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71AE7DA-A2B8-4268-A0C9-97A7F52B33DB}"/>
              </a:ext>
            </a:extLst>
          </p:cNvPr>
          <p:cNvSpPr/>
          <p:nvPr/>
        </p:nvSpPr>
        <p:spPr>
          <a:xfrm>
            <a:off x="1767168" y="4236287"/>
            <a:ext cx="84277" cy="8427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C25EE6CF-8612-4D88-A58D-7D3F7B8AFFCB}"/>
              </a:ext>
            </a:extLst>
          </p:cNvPr>
          <p:cNvSpPr/>
          <p:nvPr/>
        </p:nvSpPr>
        <p:spPr>
          <a:xfrm>
            <a:off x="1784726" y="4412215"/>
            <a:ext cx="84277" cy="8427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776BE6A-3932-4709-A8BF-ED472799BE26}"/>
              </a:ext>
            </a:extLst>
          </p:cNvPr>
          <p:cNvSpPr/>
          <p:nvPr/>
        </p:nvSpPr>
        <p:spPr>
          <a:xfrm>
            <a:off x="1639348" y="3653724"/>
            <a:ext cx="84277" cy="842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8299AF9-FE1B-44B4-8B70-57131D38FCEF}"/>
              </a:ext>
            </a:extLst>
          </p:cNvPr>
          <p:cNvSpPr/>
          <p:nvPr/>
        </p:nvSpPr>
        <p:spPr>
          <a:xfrm>
            <a:off x="1791748" y="3806124"/>
            <a:ext cx="84277" cy="842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DA715D4-CE8B-46E5-9DFE-53059EE55A9B}"/>
              </a:ext>
            </a:extLst>
          </p:cNvPr>
          <p:cNvSpPr/>
          <p:nvPr/>
        </p:nvSpPr>
        <p:spPr>
          <a:xfrm>
            <a:off x="1851445" y="3672334"/>
            <a:ext cx="84277" cy="842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517205A-DE54-429D-8FFF-458A762F981E}"/>
              </a:ext>
            </a:extLst>
          </p:cNvPr>
          <p:cNvCxnSpPr/>
          <p:nvPr/>
        </p:nvCxnSpPr>
        <p:spPr>
          <a:xfrm>
            <a:off x="2402752" y="3960282"/>
            <a:ext cx="11630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9EDC5D60-FA94-46B2-AA02-FC753BDB20B8}"/>
              </a:ext>
            </a:extLst>
          </p:cNvPr>
          <p:cNvSpPr txBox="1"/>
          <p:nvPr/>
        </p:nvSpPr>
        <p:spPr>
          <a:xfrm>
            <a:off x="2246123" y="3544142"/>
            <a:ext cx="15394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/>
              <a:t>Positive &amp; Negative Pair Training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EA7AEE3-50D8-44E5-80F6-BD8F19050F87}"/>
              </a:ext>
            </a:extLst>
          </p:cNvPr>
          <p:cNvSpPr/>
          <p:nvPr/>
        </p:nvSpPr>
        <p:spPr>
          <a:xfrm>
            <a:off x="3762770" y="4096245"/>
            <a:ext cx="261609" cy="26160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1F867A0-70A3-4990-8BF8-9E8494A7E005}"/>
              </a:ext>
            </a:extLst>
          </p:cNvPr>
          <p:cNvSpPr txBox="1"/>
          <p:nvPr/>
        </p:nvSpPr>
        <p:spPr>
          <a:xfrm>
            <a:off x="738291" y="4648367"/>
            <a:ext cx="15394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i="1"/>
              <a:t>Input space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1E5E3EE-F471-4539-97BE-3168CA2B4B7B}"/>
              </a:ext>
            </a:extLst>
          </p:cNvPr>
          <p:cNvSpPr txBox="1"/>
          <p:nvPr/>
        </p:nvSpPr>
        <p:spPr>
          <a:xfrm>
            <a:off x="3452697" y="4648367"/>
            <a:ext cx="15394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i="1"/>
              <a:t>embedding space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0276AC9-6799-44F5-9697-B19738CDF2BE}"/>
              </a:ext>
            </a:extLst>
          </p:cNvPr>
          <p:cNvSpPr txBox="1"/>
          <p:nvPr/>
        </p:nvSpPr>
        <p:spPr>
          <a:xfrm>
            <a:off x="2168182" y="5022698"/>
            <a:ext cx="1539449" cy="2616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/>
              <a:t>Dimensional Collapse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9FE32468-51C2-4728-8E3A-B1E7F4A11B26}"/>
              </a:ext>
            </a:extLst>
          </p:cNvPr>
          <p:cNvSpPr/>
          <p:nvPr/>
        </p:nvSpPr>
        <p:spPr>
          <a:xfrm>
            <a:off x="4398461" y="4093360"/>
            <a:ext cx="261609" cy="26160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04B12B3-622C-4C96-B917-703755E0F967}"/>
              </a:ext>
            </a:extLst>
          </p:cNvPr>
          <p:cNvSpPr/>
          <p:nvPr/>
        </p:nvSpPr>
        <p:spPr>
          <a:xfrm>
            <a:off x="4080615" y="4093359"/>
            <a:ext cx="261609" cy="26160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67D679C-7130-463A-8464-88EB2EA308AE}"/>
              </a:ext>
            </a:extLst>
          </p:cNvPr>
          <p:cNvSpPr txBox="1"/>
          <p:nvPr/>
        </p:nvSpPr>
        <p:spPr>
          <a:xfrm>
            <a:off x="4925961" y="4265542"/>
            <a:ext cx="1263614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i="1"/>
              <a:t>Some dimensions are zero (useless)</a:t>
            </a:r>
          </a:p>
          <a:p>
            <a:pPr algn="ctr"/>
            <a:r>
              <a:rPr lang="en-US" sz="1100" i="1"/>
              <a:t>[ 1 0 0] – cat</a:t>
            </a:r>
          </a:p>
          <a:p>
            <a:pPr algn="ctr"/>
            <a:r>
              <a:rPr lang="en-US" sz="1100" i="1"/>
              <a:t>[2 0 0 ] – dog</a:t>
            </a:r>
          </a:p>
          <a:p>
            <a:pPr algn="ctr"/>
            <a:r>
              <a:rPr lang="en-US" sz="1100" i="1"/>
              <a:t>[3 0 0 ] - horse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6BA4AA7-5688-4108-8E05-348926211F68}"/>
              </a:ext>
            </a:extLst>
          </p:cNvPr>
          <p:cNvCxnSpPr>
            <a:cxnSpLocks/>
            <a:stCxn id="45" idx="1"/>
          </p:cNvCxnSpPr>
          <p:nvPr/>
        </p:nvCxnSpPr>
        <p:spPr>
          <a:xfrm flipH="1" flipV="1">
            <a:off x="4716307" y="4412217"/>
            <a:ext cx="209654" cy="3226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3C0DDE98-376E-4C39-9DA1-32E6E43E5546}"/>
              </a:ext>
            </a:extLst>
          </p:cNvPr>
          <p:cNvSpPr/>
          <p:nvPr/>
        </p:nvSpPr>
        <p:spPr>
          <a:xfrm>
            <a:off x="6292644" y="923865"/>
            <a:ext cx="84277" cy="8427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CB1EA905-6537-4E15-8E29-2A4C4C427839}"/>
              </a:ext>
            </a:extLst>
          </p:cNvPr>
          <p:cNvSpPr/>
          <p:nvPr/>
        </p:nvSpPr>
        <p:spPr>
          <a:xfrm>
            <a:off x="6513167" y="810091"/>
            <a:ext cx="84277" cy="8427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0D4C93F0-84C9-45D9-A8ED-B2C32A2F4C82}"/>
              </a:ext>
            </a:extLst>
          </p:cNvPr>
          <p:cNvSpPr/>
          <p:nvPr/>
        </p:nvSpPr>
        <p:spPr>
          <a:xfrm>
            <a:off x="6376921" y="1125075"/>
            <a:ext cx="84277" cy="8427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B016F129-C218-49F0-9332-005DEEC3D3AC}"/>
              </a:ext>
            </a:extLst>
          </p:cNvPr>
          <p:cNvSpPr/>
          <p:nvPr/>
        </p:nvSpPr>
        <p:spPr>
          <a:xfrm>
            <a:off x="6473135" y="980751"/>
            <a:ext cx="84277" cy="8427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5EBCF242-A735-429B-AFCA-522C3EF5D8DB}"/>
              </a:ext>
            </a:extLst>
          </p:cNvPr>
          <p:cNvSpPr/>
          <p:nvPr/>
        </p:nvSpPr>
        <p:spPr>
          <a:xfrm>
            <a:off x="6792684" y="1368424"/>
            <a:ext cx="84277" cy="8427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BFA7F4FC-CAC5-4529-9F62-251B7397BBAE}"/>
              </a:ext>
            </a:extLst>
          </p:cNvPr>
          <p:cNvSpPr/>
          <p:nvPr/>
        </p:nvSpPr>
        <p:spPr>
          <a:xfrm>
            <a:off x="6912077" y="1375798"/>
            <a:ext cx="84277" cy="8427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45456E88-C9FD-4C01-832E-6C6FDC8A83C1}"/>
              </a:ext>
            </a:extLst>
          </p:cNvPr>
          <p:cNvSpPr/>
          <p:nvPr/>
        </p:nvSpPr>
        <p:spPr>
          <a:xfrm>
            <a:off x="6750546" y="923865"/>
            <a:ext cx="84277" cy="8427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55EC251C-0449-41E2-864F-CEC042FD918B}"/>
              </a:ext>
            </a:extLst>
          </p:cNvPr>
          <p:cNvSpPr/>
          <p:nvPr/>
        </p:nvSpPr>
        <p:spPr>
          <a:xfrm>
            <a:off x="6924016" y="1220941"/>
            <a:ext cx="84277" cy="8427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81151C20-F61B-4354-9CC1-73C3B9FFFA61}"/>
              </a:ext>
            </a:extLst>
          </p:cNvPr>
          <p:cNvSpPr/>
          <p:nvPr/>
        </p:nvSpPr>
        <p:spPr>
          <a:xfrm>
            <a:off x="7051836" y="1284147"/>
            <a:ext cx="84277" cy="8427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EF449720-F548-4404-BD82-6405E6D81571}"/>
              </a:ext>
            </a:extLst>
          </p:cNvPr>
          <p:cNvSpPr/>
          <p:nvPr/>
        </p:nvSpPr>
        <p:spPr>
          <a:xfrm>
            <a:off x="7069394" y="1460075"/>
            <a:ext cx="84277" cy="8427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D3FBAB14-D4FD-48DF-9695-F8703D05E2F2}"/>
              </a:ext>
            </a:extLst>
          </p:cNvPr>
          <p:cNvSpPr/>
          <p:nvPr/>
        </p:nvSpPr>
        <p:spPr>
          <a:xfrm>
            <a:off x="6924016" y="701584"/>
            <a:ext cx="84277" cy="842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62F7790B-18E1-4A5F-97E5-4F260CBB9BB6}"/>
              </a:ext>
            </a:extLst>
          </p:cNvPr>
          <p:cNvSpPr/>
          <p:nvPr/>
        </p:nvSpPr>
        <p:spPr>
          <a:xfrm>
            <a:off x="7076416" y="853984"/>
            <a:ext cx="84277" cy="842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7E1EE9E0-3E80-41DE-96F3-ADFE68FB3BF7}"/>
              </a:ext>
            </a:extLst>
          </p:cNvPr>
          <p:cNvSpPr/>
          <p:nvPr/>
        </p:nvSpPr>
        <p:spPr>
          <a:xfrm>
            <a:off x="7136113" y="720194"/>
            <a:ext cx="84277" cy="842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D69D259A-DA79-4F2E-A7AA-4422383A0CC6}"/>
              </a:ext>
            </a:extLst>
          </p:cNvPr>
          <p:cNvCxnSpPr/>
          <p:nvPr/>
        </p:nvCxnSpPr>
        <p:spPr>
          <a:xfrm>
            <a:off x="7687420" y="1008142"/>
            <a:ext cx="11630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CACBCB03-CD32-41B9-ADA4-444ED9D05129}"/>
              </a:ext>
            </a:extLst>
          </p:cNvPr>
          <p:cNvSpPr txBox="1"/>
          <p:nvPr/>
        </p:nvSpPr>
        <p:spPr>
          <a:xfrm>
            <a:off x="7530791" y="592002"/>
            <a:ext cx="15394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/>
              <a:t>AE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337151C3-16BF-4B06-86A5-D09E688AF00B}"/>
              </a:ext>
            </a:extLst>
          </p:cNvPr>
          <p:cNvSpPr/>
          <p:nvPr/>
        </p:nvSpPr>
        <p:spPr>
          <a:xfrm>
            <a:off x="9178729" y="735284"/>
            <a:ext cx="261609" cy="26160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C8ABAAC-2F9A-4674-A101-299B618C6586}"/>
              </a:ext>
            </a:extLst>
          </p:cNvPr>
          <p:cNvSpPr txBox="1"/>
          <p:nvPr/>
        </p:nvSpPr>
        <p:spPr>
          <a:xfrm>
            <a:off x="6022959" y="1696227"/>
            <a:ext cx="15394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i="1"/>
              <a:t>Input space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67750BF-EFC1-47BB-9A12-1AB5426DB291}"/>
              </a:ext>
            </a:extLst>
          </p:cNvPr>
          <p:cNvSpPr txBox="1"/>
          <p:nvPr/>
        </p:nvSpPr>
        <p:spPr>
          <a:xfrm>
            <a:off x="8737365" y="1696227"/>
            <a:ext cx="15394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i="1"/>
              <a:t>embedding space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C04CED0-9C01-4FBA-B66C-340E8CE03D5D}"/>
              </a:ext>
            </a:extLst>
          </p:cNvPr>
          <p:cNvSpPr txBox="1"/>
          <p:nvPr/>
        </p:nvSpPr>
        <p:spPr>
          <a:xfrm>
            <a:off x="7452850" y="2070558"/>
            <a:ext cx="1539449" cy="2616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/>
              <a:t>Mode Collapse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5B724E7C-029D-4EEB-AAD8-FEE0E7370C0F}"/>
              </a:ext>
            </a:extLst>
          </p:cNvPr>
          <p:cNvSpPr/>
          <p:nvPr/>
        </p:nvSpPr>
        <p:spPr>
          <a:xfrm>
            <a:off x="9872782" y="835198"/>
            <a:ext cx="261609" cy="26160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D61DC8CA-5EEA-4137-83D6-9676FC806711}"/>
              </a:ext>
            </a:extLst>
          </p:cNvPr>
          <p:cNvSpPr/>
          <p:nvPr/>
        </p:nvSpPr>
        <p:spPr>
          <a:xfrm>
            <a:off x="9309533" y="1410016"/>
            <a:ext cx="261609" cy="26160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11AD577-4F3D-45ED-AEF6-0BDB0A0CFEBB}"/>
              </a:ext>
            </a:extLst>
          </p:cNvPr>
          <p:cNvSpPr txBox="1"/>
          <p:nvPr/>
        </p:nvSpPr>
        <p:spPr>
          <a:xfrm>
            <a:off x="10210629" y="1313402"/>
            <a:ext cx="126361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i="1"/>
              <a:t>Empty space in the embedding space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8851586E-3C84-4B9B-B186-531F06D67803}"/>
              </a:ext>
            </a:extLst>
          </p:cNvPr>
          <p:cNvCxnSpPr>
            <a:stCxn id="69" idx="1"/>
          </p:cNvCxnSpPr>
          <p:nvPr/>
        </p:nvCxnSpPr>
        <p:spPr>
          <a:xfrm flipH="1" flipV="1">
            <a:off x="9713398" y="1220941"/>
            <a:ext cx="497231" cy="3079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4556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646BE-236F-424D-92DA-F82266223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LoRA</a:t>
            </a:r>
          </a:p>
        </p:txBody>
      </p: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A6390DDE-0C60-4E12-A168-E41F355C000D}"/>
              </a:ext>
            </a:extLst>
          </p:cNvPr>
          <p:cNvGrpSpPr/>
          <p:nvPr/>
        </p:nvGrpSpPr>
        <p:grpSpPr>
          <a:xfrm>
            <a:off x="1082809" y="1357732"/>
            <a:ext cx="2433927" cy="4338962"/>
            <a:chOff x="1082809" y="1357732"/>
            <a:chExt cx="2433927" cy="433896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6D84B21-9E6F-4178-A3EA-549D4F488FA1}"/>
                </a:ext>
              </a:extLst>
            </p:cNvPr>
            <p:cNvGrpSpPr/>
            <p:nvPr/>
          </p:nvGrpSpPr>
          <p:grpSpPr>
            <a:xfrm>
              <a:off x="1082809" y="2422835"/>
              <a:ext cx="233608" cy="2129134"/>
              <a:chOff x="1082809" y="2422835"/>
              <a:chExt cx="233608" cy="2129134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E42F265-76EE-4038-A643-7E24BCBAFD0F}"/>
                  </a:ext>
                </a:extLst>
              </p:cNvPr>
              <p:cNvSpPr/>
              <p:nvPr/>
            </p:nvSpPr>
            <p:spPr>
              <a:xfrm>
                <a:off x="1082809" y="2422835"/>
                <a:ext cx="233608" cy="23360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BFDBDC4-B374-4DF9-88C9-33AC72D62EB5}"/>
                  </a:ext>
                </a:extLst>
              </p:cNvPr>
              <p:cNvSpPr/>
              <p:nvPr/>
            </p:nvSpPr>
            <p:spPr>
              <a:xfrm>
                <a:off x="1082809" y="2740588"/>
                <a:ext cx="233608" cy="23360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50C4CB1-865D-451A-B2D5-928E30471A11}"/>
                  </a:ext>
                </a:extLst>
              </p:cNvPr>
              <p:cNvSpPr/>
              <p:nvPr/>
            </p:nvSpPr>
            <p:spPr>
              <a:xfrm>
                <a:off x="1082809" y="3054890"/>
                <a:ext cx="233608" cy="23360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07F6BB4-2001-4B97-9700-09EE390289B9}"/>
                  </a:ext>
                </a:extLst>
              </p:cNvPr>
              <p:cNvSpPr/>
              <p:nvPr/>
            </p:nvSpPr>
            <p:spPr>
              <a:xfrm>
                <a:off x="1082809" y="3368879"/>
                <a:ext cx="233608" cy="23360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7EF7F43-FFA7-4F34-8827-5E0AF9F61C35}"/>
                  </a:ext>
                </a:extLst>
              </p:cNvPr>
              <p:cNvSpPr/>
              <p:nvPr/>
            </p:nvSpPr>
            <p:spPr>
              <a:xfrm>
                <a:off x="1082809" y="3689757"/>
                <a:ext cx="233608" cy="23360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D0A22E7-9CE6-40AA-8830-81AE35520E3B}"/>
                  </a:ext>
                </a:extLst>
              </p:cNvPr>
              <p:cNvSpPr/>
              <p:nvPr/>
            </p:nvSpPr>
            <p:spPr>
              <a:xfrm>
                <a:off x="1082809" y="4004059"/>
                <a:ext cx="233608" cy="23360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6B086E4-1D71-4696-BB82-AFDA9400F4C1}"/>
                  </a:ext>
                </a:extLst>
              </p:cNvPr>
              <p:cNvSpPr/>
              <p:nvPr/>
            </p:nvSpPr>
            <p:spPr>
              <a:xfrm>
                <a:off x="1082809" y="4318361"/>
                <a:ext cx="233608" cy="23360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E9ED72CC-23FC-44EE-8674-01F74ECD77E0}"/>
                </a:ext>
              </a:extLst>
            </p:cNvPr>
            <p:cNvGrpSpPr/>
            <p:nvPr/>
          </p:nvGrpSpPr>
          <p:grpSpPr>
            <a:xfrm>
              <a:off x="3283128" y="1357732"/>
              <a:ext cx="233608" cy="4338962"/>
              <a:chOff x="3325266" y="1239745"/>
              <a:chExt cx="233608" cy="4338962"/>
            </a:xfrm>
            <a:solidFill>
              <a:schemeClr val="accent4"/>
            </a:solidFill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F100E029-074A-4E52-BC4B-55C5968FE035}"/>
                  </a:ext>
                </a:extLst>
              </p:cNvPr>
              <p:cNvGrpSpPr/>
              <p:nvPr/>
            </p:nvGrpSpPr>
            <p:grpSpPr>
              <a:xfrm>
                <a:off x="3325266" y="1239745"/>
                <a:ext cx="233608" cy="2129134"/>
                <a:chOff x="1082809" y="2422835"/>
                <a:chExt cx="233608" cy="2129134"/>
              </a:xfrm>
              <a:grpFill/>
            </p:grpSpPr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9AFB3AB2-F4E2-45C6-9260-FB8B6EAF8281}"/>
                    </a:ext>
                  </a:extLst>
                </p:cNvPr>
                <p:cNvSpPr/>
                <p:nvPr/>
              </p:nvSpPr>
              <p:spPr>
                <a:xfrm>
                  <a:off x="1082809" y="2422835"/>
                  <a:ext cx="233608" cy="233608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6A4DDA39-47F3-4B48-BA1E-D0F97CAAE416}"/>
                    </a:ext>
                  </a:extLst>
                </p:cNvPr>
                <p:cNvSpPr/>
                <p:nvPr/>
              </p:nvSpPr>
              <p:spPr>
                <a:xfrm>
                  <a:off x="1082809" y="2740588"/>
                  <a:ext cx="233608" cy="233608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506B3F2E-4844-4750-BF72-52DF2054F117}"/>
                    </a:ext>
                  </a:extLst>
                </p:cNvPr>
                <p:cNvSpPr/>
                <p:nvPr/>
              </p:nvSpPr>
              <p:spPr>
                <a:xfrm>
                  <a:off x="1082809" y="3054890"/>
                  <a:ext cx="233608" cy="233608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C36C740D-AC6C-444C-95CB-2B765B8C213F}"/>
                    </a:ext>
                  </a:extLst>
                </p:cNvPr>
                <p:cNvSpPr/>
                <p:nvPr/>
              </p:nvSpPr>
              <p:spPr>
                <a:xfrm>
                  <a:off x="1082809" y="3368879"/>
                  <a:ext cx="233608" cy="233608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F5E206BF-5E7F-4209-9F90-2E7E91915AEB}"/>
                    </a:ext>
                  </a:extLst>
                </p:cNvPr>
                <p:cNvSpPr/>
                <p:nvPr/>
              </p:nvSpPr>
              <p:spPr>
                <a:xfrm>
                  <a:off x="1082809" y="3689757"/>
                  <a:ext cx="233608" cy="233608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2742E41A-F00C-4E70-A7D5-4EF1015654C2}"/>
                    </a:ext>
                  </a:extLst>
                </p:cNvPr>
                <p:cNvSpPr/>
                <p:nvPr/>
              </p:nvSpPr>
              <p:spPr>
                <a:xfrm>
                  <a:off x="1082809" y="4004059"/>
                  <a:ext cx="233608" cy="233608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9ACC84A9-C562-45F7-8C14-8F82323D7839}"/>
                    </a:ext>
                  </a:extLst>
                </p:cNvPr>
                <p:cNvSpPr/>
                <p:nvPr/>
              </p:nvSpPr>
              <p:spPr>
                <a:xfrm>
                  <a:off x="1082809" y="4318361"/>
                  <a:ext cx="233608" cy="233608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086E27F2-2AD2-4790-8B41-2E8119C50981}"/>
                  </a:ext>
                </a:extLst>
              </p:cNvPr>
              <p:cNvGrpSpPr/>
              <p:nvPr/>
            </p:nvGrpSpPr>
            <p:grpSpPr>
              <a:xfrm>
                <a:off x="3325266" y="3449573"/>
                <a:ext cx="233608" cy="2129134"/>
                <a:chOff x="1082809" y="2422835"/>
                <a:chExt cx="233608" cy="2129134"/>
              </a:xfrm>
              <a:grpFill/>
            </p:grpSpPr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5D67A532-DCA8-4479-A031-D0F4A2FA8F03}"/>
                    </a:ext>
                  </a:extLst>
                </p:cNvPr>
                <p:cNvSpPr/>
                <p:nvPr/>
              </p:nvSpPr>
              <p:spPr>
                <a:xfrm>
                  <a:off x="1082809" y="2422835"/>
                  <a:ext cx="233608" cy="233608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2FFBD316-C889-4F10-8010-52746F240793}"/>
                    </a:ext>
                  </a:extLst>
                </p:cNvPr>
                <p:cNvSpPr/>
                <p:nvPr/>
              </p:nvSpPr>
              <p:spPr>
                <a:xfrm>
                  <a:off x="1082809" y="2740588"/>
                  <a:ext cx="233608" cy="233608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C81ACD64-8E01-4BE0-8644-BD67E89B029D}"/>
                    </a:ext>
                  </a:extLst>
                </p:cNvPr>
                <p:cNvSpPr/>
                <p:nvPr/>
              </p:nvSpPr>
              <p:spPr>
                <a:xfrm>
                  <a:off x="1082809" y="3054890"/>
                  <a:ext cx="233608" cy="233608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7E5DF4AE-EAC8-4BA2-A4EE-89E21D9081EC}"/>
                    </a:ext>
                  </a:extLst>
                </p:cNvPr>
                <p:cNvSpPr/>
                <p:nvPr/>
              </p:nvSpPr>
              <p:spPr>
                <a:xfrm>
                  <a:off x="1082809" y="3368879"/>
                  <a:ext cx="233608" cy="233608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425422E2-5D22-470D-A593-6A1D1F8A47C3}"/>
                    </a:ext>
                  </a:extLst>
                </p:cNvPr>
                <p:cNvSpPr/>
                <p:nvPr/>
              </p:nvSpPr>
              <p:spPr>
                <a:xfrm>
                  <a:off x="1082809" y="3689757"/>
                  <a:ext cx="233608" cy="233608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5472563A-CC05-4F1E-8D96-7900AAAC08C5}"/>
                    </a:ext>
                  </a:extLst>
                </p:cNvPr>
                <p:cNvSpPr/>
                <p:nvPr/>
              </p:nvSpPr>
              <p:spPr>
                <a:xfrm>
                  <a:off x="1082809" y="4004059"/>
                  <a:ext cx="233608" cy="233608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69314DC4-8E40-49C3-A1C0-917259FF7C3C}"/>
                    </a:ext>
                  </a:extLst>
                </p:cNvPr>
                <p:cNvSpPr/>
                <p:nvPr/>
              </p:nvSpPr>
              <p:spPr>
                <a:xfrm>
                  <a:off x="1082809" y="4318361"/>
                  <a:ext cx="233608" cy="233608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29" name="Isosceles Triangle 28">
              <a:extLst>
                <a:ext uri="{FF2B5EF4-FFF2-40B4-BE49-F238E27FC236}">
                  <a16:creationId xmlns:a16="http://schemas.microsoft.com/office/drawing/2014/main" id="{D85C2160-E460-4D23-8D03-C16AD6355A55}"/>
                </a:ext>
              </a:extLst>
            </p:cNvPr>
            <p:cNvSpPr/>
            <p:nvPr/>
          </p:nvSpPr>
          <p:spPr>
            <a:xfrm rot="5400000">
              <a:off x="678219" y="3152772"/>
              <a:ext cx="2129134" cy="669260"/>
            </a:xfrm>
            <a:prstGeom prst="triangle">
              <a:avLst>
                <a:gd name="adj" fmla="val 49008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9D15E270-E0AF-41D3-AA55-5FC354E3C72B}"/>
                </a:ext>
              </a:extLst>
            </p:cNvPr>
            <p:cNvSpPr/>
            <p:nvPr/>
          </p:nvSpPr>
          <p:spPr>
            <a:xfrm rot="5400000" flipV="1">
              <a:off x="474700" y="2960453"/>
              <a:ext cx="4338960" cy="1133521"/>
            </a:xfrm>
            <a:prstGeom prst="triangle">
              <a:avLst>
                <a:gd name="adj" fmla="val 4862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6C56BCDD-067B-4207-8E31-87874CC2F15E}"/>
              </a:ext>
            </a:extLst>
          </p:cNvPr>
          <p:cNvSpPr txBox="1"/>
          <p:nvPr/>
        </p:nvSpPr>
        <p:spPr>
          <a:xfrm>
            <a:off x="989849" y="1856968"/>
            <a:ext cx="128026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/>
              <a:t>300x500 = 150K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0949489-BB3E-4C27-98AD-BE87E99384F6}"/>
              </a:ext>
            </a:extLst>
          </p:cNvPr>
          <p:cNvSpPr txBox="1"/>
          <p:nvPr/>
        </p:nvSpPr>
        <p:spPr>
          <a:xfrm>
            <a:off x="4298511" y="1689179"/>
            <a:ext cx="1605611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/>
              <a:t>300x50= 15,000</a:t>
            </a:r>
          </a:p>
          <a:p>
            <a:r>
              <a:rPr lang="en-US" sz="1050"/>
              <a:t>50x500 = 25,000</a:t>
            </a:r>
          </a:p>
          <a:p>
            <a:r>
              <a:rPr lang="en-US" sz="1050"/>
              <a:t>New params: 40K</a:t>
            </a:r>
          </a:p>
        </p:txBody>
      </p: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2DF95EC7-47F1-4DD0-9C92-481D80DA461C}"/>
              </a:ext>
            </a:extLst>
          </p:cNvPr>
          <p:cNvGrpSpPr/>
          <p:nvPr/>
        </p:nvGrpSpPr>
        <p:grpSpPr>
          <a:xfrm>
            <a:off x="4388944" y="1353816"/>
            <a:ext cx="2433927" cy="4338962"/>
            <a:chOff x="4388944" y="1353816"/>
            <a:chExt cx="2433927" cy="4338962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5263D603-7378-4681-85CE-CF948E588657}"/>
                </a:ext>
              </a:extLst>
            </p:cNvPr>
            <p:cNvGrpSpPr/>
            <p:nvPr/>
          </p:nvGrpSpPr>
          <p:grpSpPr>
            <a:xfrm>
              <a:off x="4388944" y="2418919"/>
              <a:ext cx="233608" cy="2129134"/>
              <a:chOff x="1082809" y="2422835"/>
              <a:chExt cx="233608" cy="2129134"/>
            </a:xfrm>
          </p:grpSpPr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B131D8E6-D6E2-48E5-B889-1D413AB79D28}"/>
                  </a:ext>
                </a:extLst>
              </p:cNvPr>
              <p:cNvSpPr/>
              <p:nvPr/>
            </p:nvSpPr>
            <p:spPr>
              <a:xfrm>
                <a:off x="1082809" y="2422835"/>
                <a:ext cx="233608" cy="23360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CCD2E0C7-3852-4030-8397-AD6607CC9D4E}"/>
                  </a:ext>
                </a:extLst>
              </p:cNvPr>
              <p:cNvSpPr/>
              <p:nvPr/>
            </p:nvSpPr>
            <p:spPr>
              <a:xfrm>
                <a:off x="1082809" y="2740588"/>
                <a:ext cx="233608" cy="23360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B274811E-CAE2-406E-86EF-AE7A2FC8CBAC}"/>
                  </a:ext>
                </a:extLst>
              </p:cNvPr>
              <p:cNvSpPr/>
              <p:nvPr/>
            </p:nvSpPr>
            <p:spPr>
              <a:xfrm>
                <a:off x="1082809" y="3054890"/>
                <a:ext cx="233608" cy="23360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BA7AE205-CA1B-4B03-94BD-9AEDAA5FB64C}"/>
                  </a:ext>
                </a:extLst>
              </p:cNvPr>
              <p:cNvSpPr/>
              <p:nvPr/>
            </p:nvSpPr>
            <p:spPr>
              <a:xfrm>
                <a:off x="1082809" y="3368879"/>
                <a:ext cx="233608" cy="23360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9CB5B752-4807-4D1F-80B8-E2FAE8195E65}"/>
                  </a:ext>
                </a:extLst>
              </p:cNvPr>
              <p:cNvSpPr/>
              <p:nvPr/>
            </p:nvSpPr>
            <p:spPr>
              <a:xfrm>
                <a:off x="1082809" y="3689757"/>
                <a:ext cx="233608" cy="23360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B2CA8552-1C83-4963-8EEB-A3A93F041A0C}"/>
                  </a:ext>
                </a:extLst>
              </p:cNvPr>
              <p:cNvSpPr/>
              <p:nvPr/>
            </p:nvSpPr>
            <p:spPr>
              <a:xfrm>
                <a:off x="1082809" y="4004059"/>
                <a:ext cx="233608" cy="23360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FC7453BE-8E21-415C-9523-C2B6878FE29E}"/>
                  </a:ext>
                </a:extLst>
              </p:cNvPr>
              <p:cNvSpPr/>
              <p:nvPr/>
            </p:nvSpPr>
            <p:spPr>
              <a:xfrm>
                <a:off x="1082809" y="4318361"/>
                <a:ext cx="233608" cy="23360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23FEDBAD-1BCF-4349-A53A-A9DB33C3405D}"/>
                </a:ext>
              </a:extLst>
            </p:cNvPr>
            <p:cNvGrpSpPr/>
            <p:nvPr/>
          </p:nvGrpSpPr>
          <p:grpSpPr>
            <a:xfrm>
              <a:off x="6589263" y="1353816"/>
              <a:ext cx="233608" cy="4338962"/>
              <a:chOff x="3325266" y="1239745"/>
              <a:chExt cx="233608" cy="4338962"/>
            </a:xfrm>
            <a:solidFill>
              <a:schemeClr val="accent4">
                <a:lumMod val="40000"/>
                <a:lumOff val="60000"/>
              </a:schemeClr>
            </a:solidFill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7845371E-1F95-4D84-9507-A1880B414135}"/>
                  </a:ext>
                </a:extLst>
              </p:cNvPr>
              <p:cNvGrpSpPr/>
              <p:nvPr/>
            </p:nvGrpSpPr>
            <p:grpSpPr>
              <a:xfrm>
                <a:off x="3325266" y="1239745"/>
                <a:ext cx="233608" cy="2129134"/>
                <a:chOff x="1082809" y="2422835"/>
                <a:chExt cx="233608" cy="2129134"/>
              </a:xfrm>
              <a:grpFill/>
            </p:grpSpPr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9C21D359-FBF0-49BD-B771-4135E1636BC6}"/>
                    </a:ext>
                  </a:extLst>
                </p:cNvPr>
                <p:cNvSpPr/>
                <p:nvPr/>
              </p:nvSpPr>
              <p:spPr>
                <a:xfrm>
                  <a:off x="1082809" y="2422835"/>
                  <a:ext cx="233608" cy="233608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F4541AC4-90C0-4C03-9129-C866DA07C279}"/>
                    </a:ext>
                  </a:extLst>
                </p:cNvPr>
                <p:cNvSpPr/>
                <p:nvPr/>
              </p:nvSpPr>
              <p:spPr>
                <a:xfrm>
                  <a:off x="1082809" y="2740588"/>
                  <a:ext cx="233608" cy="233608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2" name="Rectangle 51">
                  <a:extLst>
                    <a:ext uri="{FF2B5EF4-FFF2-40B4-BE49-F238E27FC236}">
                      <a16:creationId xmlns:a16="http://schemas.microsoft.com/office/drawing/2014/main" id="{BBCD6A74-A06E-4E8A-AB2C-6B21C4FC24E3}"/>
                    </a:ext>
                  </a:extLst>
                </p:cNvPr>
                <p:cNvSpPr/>
                <p:nvPr/>
              </p:nvSpPr>
              <p:spPr>
                <a:xfrm>
                  <a:off x="1082809" y="3054890"/>
                  <a:ext cx="233608" cy="233608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1B76543E-7112-47DC-BD3C-6F2C915BA04A}"/>
                    </a:ext>
                  </a:extLst>
                </p:cNvPr>
                <p:cNvSpPr/>
                <p:nvPr/>
              </p:nvSpPr>
              <p:spPr>
                <a:xfrm>
                  <a:off x="1082809" y="3368879"/>
                  <a:ext cx="233608" cy="233608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DDC0A22A-B122-40CA-B638-91362937B687}"/>
                    </a:ext>
                  </a:extLst>
                </p:cNvPr>
                <p:cNvSpPr/>
                <p:nvPr/>
              </p:nvSpPr>
              <p:spPr>
                <a:xfrm>
                  <a:off x="1082809" y="3689757"/>
                  <a:ext cx="233608" cy="233608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A5580C67-4285-4129-8F19-353C14ABF8B9}"/>
                    </a:ext>
                  </a:extLst>
                </p:cNvPr>
                <p:cNvSpPr/>
                <p:nvPr/>
              </p:nvSpPr>
              <p:spPr>
                <a:xfrm>
                  <a:off x="1082809" y="4004059"/>
                  <a:ext cx="233608" cy="233608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783C0917-BD59-4C2C-8498-AF5150FC83A6}"/>
                    </a:ext>
                  </a:extLst>
                </p:cNvPr>
                <p:cNvSpPr/>
                <p:nvPr/>
              </p:nvSpPr>
              <p:spPr>
                <a:xfrm>
                  <a:off x="1082809" y="4318361"/>
                  <a:ext cx="233608" cy="233608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F963BF6C-70A0-4228-AD45-C5A073919B15}"/>
                  </a:ext>
                </a:extLst>
              </p:cNvPr>
              <p:cNvGrpSpPr/>
              <p:nvPr/>
            </p:nvGrpSpPr>
            <p:grpSpPr>
              <a:xfrm>
                <a:off x="3325266" y="3449573"/>
                <a:ext cx="233608" cy="2129134"/>
                <a:chOff x="1082809" y="2422835"/>
                <a:chExt cx="233608" cy="2129134"/>
              </a:xfrm>
              <a:grpFill/>
            </p:grpSpPr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20193805-5564-4F19-BB8E-62BEA5A0B796}"/>
                    </a:ext>
                  </a:extLst>
                </p:cNvPr>
                <p:cNvSpPr/>
                <p:nvPr/>
              </p:nvSpPr>
              <p:spPr>
                <a:xfrm>
                  <a:off x="1082809" y="2422835"/>
                  <a:ext cx="233608" cy="233608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3C8F9562-3EB0-40FA-B7C0-70E24CCBFE05}"/>
                    </a:ext>
                  </a:extLst>
                </p:cNvPr>
                <p:cNvSpPr/>
                <p:nvPr/>
              </p:nvSpPr>
              <p:spPr>
                <a:xfrm>
                  <a:off x="1082809" y="2740588"/>
                  <a:ext cx="233608" cy="233608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DBDC848F-39C6-430A-8A7E-1F1A83372916}"/>
                    </a:ext>
                  </a:extLst>
                </p:cNvPr>
                <p:cNvSpPr/>
                <p:nvPr/>
              </p:nvSpPr>
              <p:spPr>
                <a:xfrm>
                  <a:off x="1082809" y="3054890"/>
                  <a:ext cx="233608" cy="233608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84BC6071-4818-4386-8F71-00836086AC72}"/>
                    </a:ext>
                  </a:extLst>
                </p:cNvPr>
                <p:cNvSpPr/>
                <p:nvPr/>
              </p:nvSpPr>
              <p:spPr>
                <a:xfrm>
                  <a:off x="1082809" y="3368879"/>
                  <a:ext cx="233608" cy="233608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FD3BDAFE-1074-483F-AB52-9F5FF74F0CC7}"/>
                    </a:ext>
                  </a:extLst>
                </p:cNvPr>
                <p:cNvSpPr/>
                <p:nvPr/>
              </p:nvSpPr>
              <p:spPr>
                <a:xfrm>
                  <a:off x="1082809" y="3689757"/>
                  <a:ext cx="233608" cy="233608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B69422C1-2981-482B-9580-5567A872181D}"/>
                    </a:ext>
                  </a:extLst>
                </p:cNvPr>
                <p:cNvSpPr/>
                <p:nvPr/>
              </p:nvSpPr>
              <p:spPr>
                <a:xfrm>
                  <a:off x="1082809" y="4004059"/>
                  <a:ext cx="233608" cy="233608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B5D744C1-27DB-416B-8F44-8F3AD1E1DA84}"/>
                    </a:ext>
                  </a:extLst>
                </p:cNvPr>
                <p:cNvSpPr/>
                <p:nvPr/>
              </p:nvSpPr>
              <p:spPr>
                <a:xfrm>
                  <a:off x="1082809" y="4318361"/>
                  <a:ext cx="233608" cy="233608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57" name="Isosceles Triangle 56">
              <a:extLst>
                <a:ext uri="{FF2B5EF4-FFF2-40B4-BE49-F238E27FC236}">
                  <a16:creationId xmlns:a16="http://schemas.microsoft.com/office/drawing/2014/main" id="{526D4B96-A13E-4D0F-9CF7-87DC47AF5E37}"/>
                </a:ext>
              </a:extLst>
            </p:cNvPr>
            <p:cNvSpPr/>
            <p:nvPr/>
          </p:nvSpPr>
          <p:spPr>
            <a:xfrm rot="5400000">
              <a:off x="3870774" y="3260178"/>
              <a:ext cx="2093025" cy="405995"/>
            </a:xfrm>
            <a:prstGeom prst="triangle">
              <a:avLst>
                <a:gd name="adj" fmla="val 49008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Isosceles Triangle 57">
              <a:extLst>
                <a:ext uri="{FF2B5EF4-FFF2-40B4-BE49-F238E27FC236}">
                  <a16:creationId xmlns:a16="http://schemas.microsoft.com/office/drawing/2014/main" id="{DA4008AC-6FCA-4A2D-8514-BB0FAE1F584D}"/>
                </a:ext>
              </a:extLst>
            </p:cNvPr>
            <p:cNvSpPr/>
            <p:nvPr/>
          </p:nvSpPr>
          <p:spPr>
            <a:xfrm rot="5400000" flipV="1">
              <a:off x="4107011" y="3261965"/>
              <a:ext cx="4326022" cy="509724"/>
            </a:xfrm>
            <a:prstGeom prst="triangle">
              <a:avLst>
                <a:gd name="adj" fmla="val 4862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CB04CAD0-B1B5-4409-93FD-C72DE59ED07B}"/>
                </a:ext>
              </a:extLst>
            </p:cNvPr>
            <p:cNvGrpSpPr/>
            <p:nvPr/>
          </p:nvGrpSpPr>
          <p:grpSpPr>
            <a:xfrm>
              <a:off x="5441706" y="3026708"/>
              <a:ext cx="233608" cy="861899"/>
              <a:chOff x="1082809" y="2740588"/>
              <a:chExt cx="233608" cy="861899"/>
            </a:xfrm>
            <a:solidFill>
              <a:schemeClr val="accent1">
                <a:lumMod val="40000"/>
                <a:lumOff val="60000"/>
              </a:schemeClr>
            </a:solidFill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6B37470E-8937-4EB1-850E-A5B55E38CF02}"/>
                  </a:ext>
                </a:extLst>
              </p:cNvPr>
              <p:cNvSpPr/>
              <p:nvPr/>
            </p:nvSpPr>
            <p:spPr>
              <a:xfrm>
                <a:off x="1082809" y="2740588"/>
                <a:ext cx="233608" cy="233608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706B40C9-9BE2-4ED5-8F77-4E90F4A8D9CD}"/>
                  </a:ext>
                </a:extLst>
              </p:cNvPr>
              <p:cNvSpPr/>
              <p:nvPr/>
            </p:nvSpPr>
            <p:spPr>
              <a:xfrm>
                <a:off x="1082809" y="3054890"/>
                <a:ext cx="233608" cy="233608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F43DB8BF-F7E3-4674-8953-D536EE5DB53A}"/>
                  </a:ext>
                </a:extLst>
              </p:cNvPr>
              <p:cNvSpPr/>
              <p:nvPr/>
            </p:nvSpPr>
            <p:spPr>
              <a:xfrm>
                <a:off x="1082809" y="3368879"/>
                <a:ext cx="233608" cy="233608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8" name="Isosceles Triangle 67">
              <a:extLst>
                <a:ext uri="{FF2B5EF4-FFF2-40B4-BE49-F238E27FC236}">
                  <a16:creationId xmlns:a16="http://schemas.microsoft.com/office/drawing/2014/main" id="{FFF43C56-B3A0-47E4-82B2-A07945C8F050}"/>
                </a:ext>
              </a:extLst>
            </p:cNvPr>
            <p:cNvSpPr/>
            <p:nvPr/>
          </p:nvSpPr>
          <p:spPr>
            <a:xfrm rot="5400000" flipV="1">
              <a:off x="4842212" y="3325644"/>
              <a:ext cx="820177" cy="264029"/>
            </a:xfrm>
            <a:prstGeom prst="triangle">
              <a:avLst>
                <a:gd name="adj" fmla="val 4862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Isosceles Triangle 68">
              <a:extLst>
                <a:ext uri="{FF2B5EF4-FFF2-40B4-BE49-F238E27FC236}">
                  <a16:creationId xmlns:a16="http://schemas.microsoft.com/office/drawing/2014/main" id="{AE8B0F5B-3E0D-4410-ABAB-E9D4E47FFF87}"/>
                </a:ext>
              </a:extLst>
            </p:cNvPr>
            <p:cNvSpPr/>
            <p:nvPr/>
          </p:nvSpPr>
          <p:spPr>
            <a:xfrm rot="5400000">
              <a:off x="5458308" y="3317945"/>
              <a:ext cx="820178" cy="279428"/>
            </a:xfrm>
            <a:prstGeom prst="triangle">
              <a:avLst>
                <a:gd name="adj" fmla="val 4862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FCF7411B-D78C-478E-B96E-2083F12AABB5}"/>
              </a:ext>
            </a:extLst>
          </p:cNvPr>
          <p:cNvSpPr txBox="1"/>
          <p:nvPr/>
        </p:nvSpPr>
        <p:spPr>
          <a:xfrm>
            <a:off x="4298511" y="4893949"/>
            <a:ext cx="19715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/>
              <a:t>It is assuming that original weights can be approximated by the new weights. </a:t>
            </a:r>
            <a:r>
              <a:rPr lang="en-US" sz="1100" i="1">
                <a:solidFill>
                  <a:srgbClr val="FF0000"/>
                </a:solidFill>
              </a:rPr>
              <a:t>But we need to use existing weights!</a:t>
            </a:r>
          </a:p>
        </p:txBody>
      </p: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8D966F14-B9FF-444C-BB82-20BB165A305E}"/>
              </a:ext>
            </a:extLst>
          </p:cNvPr>
          <p:cNvGrpSpPr/>
          <p:nvPr/>
        </p:nvGrpSpPr>
        <p:grpSpPr>
          <a:xfrm>
            <a:off x="7863546" y="1887353"/>
            <a:ext cx="819799" cy="1292229"/>
            <a:chOff x="1082809" y="1357732"/>
            <a:chExt cx="2433927" cy="4338962"/>
          </a:xfrm>
        </p:grpSpPr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6065D3E0-2480-4E0B-9202-6C4C7CA4AF2A}"/>
                </a:ext>
              </a:extLst>
            </p:cNvPr>
            <p:cNvGrpSpPr/>
            <p:nvPr/>
          </p:nvGrpSpPr>
          <p:grpSpPr>
            <a:xfrm>
              <a:off x="1082809" y="2422835"/>
              <a:ext cx="233608" cy="2129134"/>
              <a:chOff x="1082809" y="2422835"/>
              <a:chExt cx="233608" cy="2129134"/>
            </a:xfrm>
          </p:grpSpPr>
          <p:sp>
            <p:nvSpPr>
              <p:cNvPr id="158" name="Rectangle 157">
                <a:extLst>
                  <a:ext uri="{FF2B5EF4-FFF2-40B4-BE49-F238E27FC236}">
                    <a16:creationId xmlns:a16="http://schemas.microsoft.com/office/drawing/2014/main" id="{0FAFF336-2481-4452-92CD-CCB098A40D84}"/>
                  </a:ext>
                </a:extLst>
              </p:cNvPr>
              <p:cNvSpPr/>
              <p:nvPr/>
            </p:nvSpPr>
            <p:spPr>
              <a:xfrm>
                <a:off x="1082809" y="2422835"/>
                <a:ext cx="233608" cy="23360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BEB9E9D4-5D55-4C4C-B785-35F8BE679DD7}"/>
                  </a:ext>
                </a:extLst>
              </p:cNvPr>
              <p:cNvSpPr/>
              <p:nvPr/>
            </p:nvSpPr>
            <p:spPr>
              <a:xfrm>
                <a:off x="1082809" y="2740588"/>
                <a:ext cx="233608" cy="23360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Rectangle 159">
                <a:extLst>
                  <a:ext uri="{FF2B5EF4-FFF2-40B4-BE49-F238E27FC236}">
                    <a16:creationId xmlns:a16="http://schemas.microsoft.com/office/drawing/2014/main" id="{E645866B-7BE9-4E5B-821C-992764A10733}"/>
                  </a:ext>
                </a:extLst>
              </p:cNvPr>
              <p:cNvSpPr/>
              <p:nvPr/>
            </p:nvSpPr>
            <p:spPr>
              <a:xfrm>
                <a:off x="1082809" y="3054890"/>
                <a:ext cx="233608" cy="23360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5E138345-8236-48ED-9E4F-6190C9DF766D}"/>
                  </a:ext>
                </a:extLst>
              </p:cNvPr>
              <p:cNvSpPr/>
              <p:nvPr/>
            </p:nvSpPr>
            <p:spPr>
              <a:xfrm>
                <a:off x="1082809" y="3368879"/>
                <a:ext cx="233608" cy="23360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682D7A4E-C215-43CA-8609-477E74FA3BD8}"/>
                  </a:ext>
                </a:extLst>
              </p:cNvPr>
              <p:cNvSpPr/>
              <p:nvPr/>
            </p:nvSpPr>
            <p:spPr>
              <a:xfrm>
                <a:off x="1082809" y="3689757"/>
                <a:ext cx="233608" cy="23360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F81B1015-A31E-4717-8479-3C2319D4DE09}"/>
                  </a:ext>
                </a:extLst>
              </p:cNvPr>
              <p:cNvSpPr/>
              <p:nvPr/>
            </p:nvSpPr>
            <p:spPr>
              <a:xfrm>
                <a:off x="1082809" y="4004059"/>
                <a:ext cx="233608" cy="23360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4" name="Rectangle 163">
                <a:extLst>
                  <a:ext uri="{FF2B5EF4-FFF2-40B4-BE49-F238E27FC236}">
                    <a16:creationId xmlns:a16="http://schemas.microsoft.com/office/drawing/2014/main" id="{2FCCEF24-9764-49D0-9773-B0EC0D074671}"/>
                  </a:ext>
                </a:extLst>
              </p:cNvPr>
              <p:cNvSpPr/>
              <p:nvPr/>
            </p:nvSpPr>
            <p:spPr>
              <a:xfrm>
                <a:off x="1082809" y="4318361"/>
                <a:ext cx="233608" cy="23360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94EE9693-936F-4541-97A3-F76C3CA1E67C}"/>
                </a:ext>
              </a:extLst>
            </p:cNvPr>
            <p:cNvGrpSpPr/>
            <p:nvPr/>
          </p:nvGrpSpPr>
          <p:grpSpPr>
            <a:xfrm>
              <a:off x="3283128" y="1357732"/>
              <a:ext cx="233608" cy="4338962"/>
              <a:chOff x="3325266" y="1239745"/>
              <a:chExt cx="233608" cy="4338962"/>
            </a:xfrm>
            <a:solidFill>
              <a:schemeClr val="accent4"/>
            </a:solidFill>
          </p:grpSpPr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5680EED7-1DB4-4C0C-A903-D6FA66FB7D24}"/>
                  </a:ext>
                </a:extLst>
              </p:cNvPr>
              <p:cNvGrpSpPr/>
              <p:nvPr/>
            </p:nvGrpSpPr>
            <p:grpSpPr>
              <a:xfrm>
                <a:off x="3325266" y="1239745"/>
                <a:ext cx="233608" cy="2129134"/>
                <a:chOff x="1082809" y="2422835"/>
                <a:chExt cx="233608" cy="2129134"/>
              </a:xfrm>
              <a:grpFill/>
            </p:grpSpPr>
            <p:sp>
              <p:nvSpPr>
                <p:cNvPr id="151" name="Rectangle 150">
                  <a:extLst>
                    <a:ext uri="{FF2B5EF4-FFF2-40B4-BE49-F238E27FC236}">
                      <a16:creationId xmlns:a16="http://schemas.microsoft.com/office/drawing/2014/main" id="{44A6663C-1C2C-4375-B9BB-0586F0ED6CFF}"/>
                    </a:ext>
                  </a:extLst>
                </p:cNvPr>
                <p:cNvSpPr/>
                <p:nvPr/>
              </p:nvSpPr>
              <p:spPr>
                <a:xfrm>
                  <a:off x="1082809" y="2422835"/>
                  <a:ext cx="233608" cy="233608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2" name="Rectangle 151">
                  <a:extLst>
                    <a:ext uri="{FF2B5EF4-FFF2-40B4-BE49-F238E27FC236}">
                      <a16:creationId xmlns:a16="http://schemas.microsoft.com/office/drawing/2014/main" id="{CE9AF320-E615-49CF-B494-33386D018A84}"/>
                    </a:ext>
                  </a:extLst>
                </p:cNvPr>
                <p:cNvSpPr/>
                <p:nvPr/>
              </p:nvSpPr>
              <p:spPr>
                <a:xfrm>
                  <a:off x="1082809" y="2740588"/>
                  <a:ext cx="233608" cy="233608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3" name="Rectangle 152">
                  <a:extLst>
                    <a:ext uri="{FF2B5EF4-FFF2-40B4-BE49-F238E27FC236}">
                      <a16:creationId xmlns:a16="http://schemas.microsoft.com/office/drawing/2014/main" id="{DFB4355C-D7B4-4583-8F82-0B04CAB8421F}"/>
                    </a:ext>
                  </a:extLst>
                </p:cNvPr>
                <p:cNvSpPr/>
                <p:nvPr/>
              </p:nvSpPr>
              <p:spPr>
                <a:xfrm>
                  <a:off x="1082809" y="3054890"/>
                  <a:ext cx="233608" cy="233608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4" name="Rectangle 153">
                  <a:extLst>
                    <a:ext uri="{FF2B5EF4-FFF2-40B4-BE49-F238E27FC236}">
                      <a16:creationId xmlns:a16="http://schemas.microsoft.com/office/drawing/2014/main" id="{992079FE-A1F6-4A89-A7DE-CCADB3467EF4}"/>
                    </a:ext>
                  </a:extLst>
                </p:cNvPr>
                <p:cNvSpPr/>
                <p:nvPr/>
              </p:nvSpPr>
              <p:spPr>
                <a:xfrm>
                  <a:off x="1082809" y="3368879"/>
                  <a:ext cx="233608" cy="233608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5" name="Rectangle 154">
                  <a:extLst>
                    <a:ext uri="{FF2B5EF4-FFF2-40B4-BE49-F238E27FC236}">
                      <a16:creationId xmlns:a16="http://schemas.microsoft.com/office/drawing/2014/main" id="{CD143E73-ECE2-4AA5-BF59-69310AF24D3B}"/>
                    </a:ext>
                  </a:extLst>
                </p:cNvPr>
                <p:cNvSpPr/>
                <p:nvPr/>
              </p:nvSpPr>
              <p:spPr>
                <a:xfrm>
                  <a:off x="1082809" y="3689757"/>
                  <a:ext cx="233608" cy="233608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6" name="Rectangle 155">
                  <a:extLst>
                    <a:ext uri="{FF2B5EF4-FFF2-40B4-BE49-F238E27FC236}">
                      <a16:creationId xmlns:a16="http://schemas.microsoft.com/office/drawing/2014/main" id="{0EA8714B-5764-436C-9E33-6070CEED8C44}"/>
                    </a:ext>
                  </a:extLst>
                </p:cNvPr>
                <p:cNvSpPr/>
                <p:nvPr/>
              </p:nvSpPr>
              <p:spPr>
                <a:xfrm>
                  <a:off x="1082809" y="4004059"/>
                  <a:ext cx="233608" cy="233608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7" name="Rectangle 156">
                  <a:extLst>
                    <a:ext uri="{FF2B5EF4-FFF2-40B4-BE49-F238E27FC236}">
                      <a16:creationId xmlns:a16="http://schemas.microsoft.com/office/drawing/2014/main" id="{C7825649-7067-49BA-A04D-D7D94AFE52B3}"/>
                    </a:ext>
                  </a:extLst>
                </p:cNvPr>
                <p:cNvSpPr/>
                <p:nvPr/>
              </p:nvSpPr>
              <p:spPr>
                <a:xfrm>
                  <a:off x="1082809" y="4318361"/>
                  <a:ext cx="233608" cy="233608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3" name="Group 142">
                <a:extLst>
                  <a:ext uri="{FF2B5EF4-FFF2-40B4-BE49-F238E27FC236}">
                    <a16:creationId xmlns:a16="http://schemas.microsoft.com/office/drawing/2014/main" id="{D119014C-FAE2-427F-B469-0A24431CD607}"/>
                  </a:ext>
                </a:extLst>
              </p:cNvPr>
              <p:cNvGrpSpPr/>
              <p:nvPr/>
            </p:nvGrpSpPr>
            <p:grpSpPr>
              <a:xfrm>
                <a:off x="3325266" y="3449573"/>
                <a:ext cx="233608" cy="2129134"/>
                <a:chOff x="1082809" y="2422835"/>
                <a:chExt cx="233608" cy="2129134"/>
              </a:xfrm>
              <a:grpFill/>
            </p:grpSpPr>
            <p:sp>
              <p:nvSpPr>
                <p:cNvPr id="144" name="Rectangle 143">
                  <a:extLst>
                    <a:ext uri="{FF2B5EF4-FFF2-40B4-BE49-F238E27FC236}">
                      <a16:creationId xmlns:a16="http://schemas.microsoft.com/office/drawing/2014/main" id="{17B5797E-B889-41EA-9F7D-FC89590AE9AB}"/>
                    </a:ext>
                  </a:extLst>
                </p:cNvPr>
                <p:cNvSpPr/>
                <p:nvPr/>
              </p:nvSpPr>
              <p:spPr>
                <a:xfrm>
                  <a:off x="1082809" y="2422835"/>
                  <a:ext cx="233608" cy="233608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" name="Rectangle 144">
                  <a:extLst>
                    <a:ext uri="{FF2B5EF4-FFF2-40B4-BE49-F238E27FC236}">
                      <a16:creationId xmlns:a16="http://schemas.microsoft.com/office/drawing/2014/main" id="{80F4E990-34BA-4206-9C63-CDB029D8DF2A}"/>
                    </a:ext>
                  </a:extLst>
                </p:cNvPr>
                <p:cNvSpPr/>
                <p:nvPr/>
              </p:nvSpPr>
              <p:spPr>
                <a:xfrm>
                  <a:off x="1082809" y="2740588"/>
                  <a:ext cx="233608" cy="233608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6" name="Rectangle 145">
                  <a:extLst>
                    <a:ext uri="{FF2B5EF4-FFF2-40B4-BE49-F238E27FC236}">
                      <a16:creationId xmlns:a16="http://schemas.microsoft.com/office/drawing/2014/main" id="{1BA659C0-F0D8-4DBF-9E72-0837004FD884}"/>
                    </a:ext>
                  </a:extLst>
                </p:cNvPr>
                <p:cNvSpPr/>
                <p:nvPr/>
              </p:nvSpPr>
              <p:spPr>
                <a:xfrm>
                  <a:off x="1082809" y="3054890"/>
                  <a:ext cx="233608" cy="233608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7" name="Rectangle 146">
                  <a:extLst>
                    <a:ext uri="{FF2B5EF4-FFF2-40B4-BE49-F238E27FC236}">
                      <a16:creationId xmlns:a16="http://schemas.microsoft.com/office/drawing/2014/main" id="{60035E6E-6387-4D78-A818-11BE2065AB70}"/>
                    </a:ext>
                  </a:extLst>
                </p:cNvPr>
                <p:cNvSpPr/>
                <p:nvPr/>
              </p:nvSpPr>
              <p:spPr>
                <a:xfrm>
                  <a:off x="1082809" y="3368879"/>
                  <a:ext cx="233608" cy="233608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8" name="Rectangle 147">
                  <a:extLst>
                    <a:ext uri="{FF2B5EF4-FFF2-40B4-BE49-F238E27FC236}">
                      <a16:creationId xmlns:a16="http://schemas.microsoft.com/office/drawing/2014/main" id="{0DEF1D1A-D1A9-4818-8A1F-D928660F37FA}"/>
                    </a:ext>
                  </a:extLst>
                </p:cNvPr>
                <p:cNvSpPr/>
                <p:nvPr/>
              </p:nvSpPr>
              <p:spPr>
                <a:xfrm>
                  <a:off x="1082809" y="3689757"/>
                  <a:ext cx="233608" cy="233608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" name="Rectangle 148">
                  <a:extLst>
                    <a:ext uri="{FF2B5EF4-FFF2-40B4-BE49-F238E27FC236}">
                      <a16:creationId xmlns:a16="http://schemas.microsoft.com/office/drawing/2014/main" id="{D586A22B-6FA5-46D9-83F7-302E21F8CF02}"/>
                    </a:ext>
                  </a:extLst>
                </p:cNvPr>
                <p:cNvSpPr/>
                <p:nvPr/>
              </p:nvSpPr>
              <p:spPr>
                <a:xfrm>
                  <a:off x="1082809" y="4004059"/>
                  <a:ext cx="233608" cy="233608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0" name="Rectangle 149">
                  <a:extLst>
                    <a:ext uri="{FF2B5EF4-FFF2-40B4-BE49-F238E27FC236}">
                      <a16:creationId xmlns:a16="http://schemas.microsoft.com/office/drawing/2014/main" id="{2B209171-7CDB-4CBA-9701-986B74D1C0D7}"/>
                    </a:ext>
                  </a:extLst>
                </p:cNvPr>
                <p:cNvSpPr/>
                <p:nvPr/>
              </p:nvSpPr>
              <p:spPr>
                <a:xfrm>
                  <a:off x="1082809" y="4318361"/>
                  <a:ext cx="233608" cy="233608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140" name="Isosceles Triangle 139">
              <a:extLst>
                <a:ext uri="{FF2B5EF4-FFF2-40B4-BE49-F238E27FC236}">
                  <a16:creationId xmlns:a16="http://schemas.microsoft.com/office/drawing/2014/main" id="{C7E9DB51-AB6B-4B71-ACC8-CF55A030A5D8}"/>
                </a:ext>
              </a:extLst>
            </p:cNvPr>
            <p:cNvSpPr/>
            <p:nvPr/>
          </p:nvSpPr>
          <p:spPr>
            <a:xfrm rot="5400000">
              <a:off x="678219" y="3152772"/>
              <a:ext cx="2129134" cy="669260"/>
            </a:xfrm>
            <a:prstGeom prst="triangle">
              <a:avLst>
                <a:gd name="adj" fmla="val 49008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Isosceles Triangle 140">
              <a:extLst>
                <a:ext uri="{FF2B5EF4-FFF2-40B4-BE49-F238E27FC236}">
                  <a16:creationId xmlns:a16="http://schemas.microsoft.com/office/drawing/2014/main" id="{9B12E281-3D81-4B37-9B1A-C8F1BD4F617B}"/>
                </a:ext>
              </a:extLst>
            </p:cNvPr>
            <p:cNvSpPr/>
            <p:nvPr/>
          </p:nvSpPr>
          <p:spPr>
            <a:xfrm rot="5400000" flipV="1">
              <a:off x="474700" y="2960453"/>
              <a:ext cx="4338960" cy="1133521"/>
            </a:xfrm>
            <a:prstGeom prst="triangle">
              <a:avLst>
                <a:gd name="adj" fmla="val 4862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FECF9B79-6D66-44F0-B117-E2CA00923BF4}"/>
              </a:ext>
            </a:extLst>
          </p:cNvPr>
          <p:cNvGrpSpPr/>
          <p:nvPr/>
        </p:nvGrpSpPr>
        <p:grpSpPr>
          <a:xfrm>
            <a:off x="7863547" y="3333315"/>
            <a:ext cx="819799" cy="1438418"/>
            <a:chOff x="4388944" y="1353816"/>
            <a:chExt cx="2433927" cy="4338962"/>
          </a:xfrm>
        </p:grpSpPr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6B964E07-4FE0-4B76-BCFD-994BDE645B99}"/>
                </a:ext>
              </a:extLst>
            </p:cNvPr>
            <p:cNvGrpSpPr/>
            <p:nvPr/>
          </p:nvGrpSpPr>
          <p:grpSpPr>
            <a:xfrm>
              <a:off x="4388944" y="2418919"/>
              <a:ext cx="233608" cy="2129134"/>
              <a:chOff x="1082809" y="2422835"/>
              <a:chExt cx="233608" cy="2129134"/>
            </a:xfrm>
          </p:grpSpPr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E389A294-D5BD-4198-B02E-35FCEA4F01C7}"/>
                  </a:ext>
                </a:extLst>
              </p:cNvPr>
              <p:cNvSpPr/>
              <p:nvPr/>
            </p:nvSpPr>
            <p:spPr>
              <a:xfrm>
                <a:off x="1082809" y="2422835"/>
                <a:ext cx="233608" cy="23360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DF32E6E4-C6FC-4D7A-A69A-B79B60F33FC2}"/>
                  </a:ext>
                </a:extLst>
              </p:cNvPr>
              <p:cNvSpPr/>
              <p:nvPr/>
            </p:nvSpPr>
            <p:spPr>
              <a:xfrm>
                <a:off x="1082809" y="2740588"/>
                <a:ext cx="233608" cy="23360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1F2E029A-8ADF-4AE7-B8EF-F81C17BA7FF2}"/>
                  </a:ext>
                </a:extLst>
              </p:cNvPr>
              <p:cNvSpPr/>
              <p:nvPr/>
            </p:nvSpPr>
            <p:spPr>
              <a:xfrm>
                <a:off x="1082809" y="3054890"/>
                <a:ext cx="233608" cy="23360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5" name="Rectangle 194">
                <a:extLst>
                  <a:ext uri="{FF2B5EF4-FFF2-40B4-BE49-F238E27FC236}">
                    <a16:creationId xmlns:a16="http://schemas.microsoft.com/office/drawing/2014/main" id="{CE97C603-DD2D-44BA-B49D-7FDCCA00E815}"/>
                  </a:ext>
                </a:extLst>
              </p:cNvPr>
              <p:cNvSpPr/>
              <p:nvPr/>
            </p:nvSpPr>
            <p:spPr>
              <a:xfrm>
                <a:off x="1082809" y="3368879"/>
                <a:ext cx="233608" cy="23360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DB77535C-F825-45A0-B013-E0CFB605E585}"/>
                  </a:ext>
                </a:extLst>
              </p:cNvPr>
              <p:cNvSpPr/>
              <p:nvPr/>
            </p:nvSpPr>
            <p:spPr>
              <a:xfrm>
                <a:off x="1082809" y="3689757"/>
                <a:ext cx="233608" cy="23360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0D041043-8EF1-425B-A889-2915D6A340C0}"/>
                  </a:ext>
                </a:extLst>
              </p:cNvPr>
              <p:cNvSpPr/>
              <p:nvPr/>
            </p:nvSpPr>
            <p:spPr>
              <a:xfrm>
                <a:off x="1082809" y="4004059"/>
                <a:ext cx="233608" cy="23360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7DBAE4EC-E2F8-46F2-866F-63CB82E7E2B0}"/>
                  </a:ext>
                </a:extLst>
              </p:cNvPr>
              <p:cNvSpPr/>
              <p:nvPr/>
            </p:nvSpPr>
            <p:spPr>
              <a:xfrm>
                <a:off x="1082809" y="4318361"/>
                <a:ext cx="233608" cy="23360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7" name="Group 166">
              <a:extLst>
                <a:ext uri="{FF2B5EF4-FFF2-40B4-BE49-F238E27FC236}">
                  <a16:creationId xmlns:a16="http://schemas.microsoft.com/office/drawing/2014/main" id="{21BF1B98-E4C4-43B9-B720-447D0CF56BCF}"/>
                </a:ext>
              </a:extLst>
            </p:cNvPr>
            <p:cNvGrpSpPr/>
            <p:nvPr/>
          </p:nvGrpSpPr>
          <p:grpSpPr>
            <a:xfrm>
              <a:off x="6589263" y="1353816"/>
              <a:ext cx="233608" cy="4338962"/>
              <a:chOff x="3325266" y="1239745"/>
              <a:chExt cx="233608" cy="4338962"/>
            </a:xfrm>
            <a:solidFill>
              <a:schemeClr val="accent4">
                <a:lumMod val="40000"/>
                <a:lumOff val="60000"/>
              </a:schemeClr>
            </a:solidFill>
          </p:grpSpPr>
          <p:grpSp>
            <p:nvGrpSpPr>
              <p:cNvPr id="176" name="Group 175">
                <a:extLst>
                  <a:ext uri="{FF2B5EF4-FFF2-40B4-BE49-F238E27FC236}">
                    <a16:creationId xmlns:a16="http://schemas.microsoft.com/office/drawing/2014/main" id="{C80136BB-8653-4262-9C6D-8EBDD4F00330}"/>
                  </a:ext>
                </a:extLst>
              </p:cNvPr>
              <p:cNvGrpSpPr/>
              <p:nvPr/>
            </p:nvGrpSpPr>
            <p:grpSpPr>
              <a:xfrm>
                <a:off x="3325266" y="1239745"/>
                <a:ext cx="233608" cy="2129134"/>
                <a:chOff x="1082809" y="2422835"/>
                <a:chExt cx="233608" cy="2129134"/>
              </a:xfrm>
              <a:grpFill/>
            </p:grpSpPr>
            <p:sp>
              <p:nvSpPr>
                <p:cNvPr id="185" name="Rectangle 184">
                  <a:extLst>
                    <a:ext uri="{FF2B5EF4-FFF2-40B4-BE49-F238E27FC236}">
                      <a16:creationId xmlns:a16="http://schemas.microsoft.com/office/drawing/2014/main" id="{869676AB-27BC-4F84-BE17-F9299EE7B91F}"/>
                    </a:ext>
                  </a:extLst>
                </p:cNvPr>
                <p:cNvSpPr/>
                <p:nvPr/>
              </p:nvSpPr>
              <p:spPr>
                <a:xfrm>
                  <a:off x="1082809" y="2422835"/>
                  <a:ext cx="233608" cy="233608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6" name="Rectangle 185">
                  <a:extLst>
                    <a:ext uri="{FF2B5EF4-FFF2-40B4-BE49-F238E27FC236}">
                      <a16:creationId xmlns:a16="http://schemas.microsoft.com/office/drawing/2014/main" id="{E6B69E9F-0067-4308-B6DF-4664A521BFA6}"/>
                    </a:ext>
                  </a:extLst>
                </p:cNvPr>
                <p:cNvSpPr/>
                <p:nvPr/>
              </p:nvSpPr>
              <p:spPr>
                <a:xfrm>
                  <a:off x="1082809" y="2740588"/>
                  <a:ext cx="233608" cy="233608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7" name="Rectangle 186">
                  <a:extLst>
                    <a:ext uri="{FF2B5EF4-FFF2-40B4-BE49-F238E27FC236}">
                      <a16:creationId xmlns:a16="http://schemas.microsoft.com/office/drawing/2014/main" id="{9DCC1DFE-02E6-4527-A40D-7B08E13B489A}"/>
                    </a:ext>
                  </a:extLst>
                </p:cNvPr>
                <p:cNvSpPr/>
                <p:nvPr/>
              </p:nvSpPr>
              <p:spPr>
                <a:xfrm>
                  <a:off x="1082809" y="3054890"/>
                  <a:ext cx="233608" cy="233608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8" name="Rectangle 187">
                  <a:extLst>
                    <a:ext uri="{FF2B5EF4-FFF2-40B4-BE49-F238E27FC236}">
                      <a16:creationId xmlns:a16="http://schemas.microsoft.com/office/drawing/2014/main" id="{A0A89376-F4FE-4BC9-A80E-69AD5BBF6E24}"/>
                    </a:ext>
                  </a:extLst>
                </p:cNvPr>
                <p:cNvSpPr/>
                <p:nvPr/>
              </p:nvSpPr>
              <p:spPr>
                <a:xfrm>
                  <a:off x="1082809" y="3368879"/>
                  <a:ext cx="233608" cy="233608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9" name="Rectangle 188">
                  <a:extLst>
                    <a:ext uri="{FF2B5EF4-FFF2-40B4-BE49-F238E27FC236}">
                      <a16:creationId xmlns:a16="http://schemas.microsoft.com/office/drawing/2014/main" id="{2BF5A235-B602-459C-871A-D80E06C3A452}"/>
                    </a:ext>
                  </a:extLst>
                </p:cNvPr>
                <p:cNvSpPr/>
                <p:nvPr/>
              </p:nvSpPr>
              <p:spPr>
                <a:xfrm>
                  <a:off x="1082809" y="3689757"/>
                  <a:ext cx="233608" cy="233608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0" name="Rectangle 189">
                  <a:extLst>
                    <a:ext uri="{FF2B5EF4-FFF2-40B4-BE49-F238E27FC236}">
                      <a16:creationId xmlns:a16="http://schemas.microsoft.com/office/drawing/2014/main" id="{E533C24C-B09E-48EE-B2B0-B070FBD93DCF}"/>
                    </a:ext>
                  </a:extLst>
                </p:cNvPr>
                <p:cNvSpPr/>
                <p:nvPr/>
              </p:nvSpPr>
              <p:spPr>
                <a:xfrm>
                  <a:off x="1082809" y="4004059"/>
                  <a:ext cx="233608" cy="233608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1" name="Rectangle 190">
                  <a:extLst>
                    <a:ext uri="{FF2B5EF4-FFF2-40B4-BE49-F238E27FC236}">
                      <a16:creationId xmlns:a16="http://schemas.microsoft.com/office/drawing/2014/main" id="{CDC525B1-A00F-48AD-B24F-AB8133A14599}"/>
                    </a:ext>
                  </a:extLst>
                </p:cNvPr>
                <p:cNvSpPr/>
                <p:nvPr/>
              </p:nvSpPr>
              <p:spPr>
                <a:xfrm>
                  <a:off x="1082809" y="4318361"/>
                  <a:ext cx="233608" cy="233608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77" name="Group 176">
                <a:extLst>
                  <a:ext uri="{FF2B5EF4-FFF2-40B4-BE49-F238E27FC236}">
                    <a16:creationId xmlns:a16="http://schemas.microsoft.com/office/drawing/2014/main" id="{11B2DEDB-D389-430E-8738-3A6FBDCD1D04}"/>
                  </a:ext>
                </a:extLst>
              </p:cNvPr>
              <p:cNvGrpSpPr/>
              <p:nvPr/>
            </p:nvGrpSpPr>
            <p:grpSpPr>
              <a:xfrm>
                <a:off x="3325266" y="3449573"/>
                <a:ext cx="233608" cy="2129134"/>
                <a:chOff x="1082809" y="2422835"/>
                <a:chExt cx="233608" cy="2129134"/>
              </a:xfrm>
              <a:grpFill/>
            </p:grpSpPr>
            <p:sp>
              <p:nvSpPr>
                <p:cNvPr id="178" name="Rectangle 177">
                  <a:extLst>
                    <a:ext uri="{FF2B5EF4-FFF2-40B4-BE49-F238E27FC236}">
                      <a16:creationId xmlns:a16="http://schemas.microsoft.com/office/drawing/2014/main" id="{76AF6BE2-6C4A-4B9B-B2C3-3089E0F71E45}"/>
                    </a:ext>
                  </a:extLst>
                </p:cNvPr>
                <p:cNvSpPr/>
                <p:nvPr/>
              </p:nvSpPr>
              <p:spPr>
                <a:xfrm>
                  <a:off x="1082809" y="2422835"/>
                  <a:ext cx="233608" cy="233608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" name="Rectangle 178">
                  <a:extLst>
                    <a:ext uri="{FF2B5EF4-FFF2-40B4-BE49-F238E27FC236}">
                      <a16:creationId xmlns:a16="http://schemas.microsoft.com/office/drawing/2014/main" id="{76282707-B431-49F0-B41D-982C470DB04B}"/>
                    </a:ext>
                  </a:extLst>
                </p:cNvPr>
                <p:cNvSpPr/>
                <p:nvPr/>
              </p:nvSpPr>
              <p:spPr>
                <a:xfrm>
                  <a:off x="1082809" y="2740588"/>
                  <a:ext cx="233608" cy="233608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0" name="Rectangle 179">
                  <a:extLst>
                    <a:ext uri="{FF2B5EF4-FFF2-40B4-BE49-F238E27FC236}">
                      <a16:creationId xmlns:a16="http://schemas.microsoft.com/office/drawing/2014/main" id="{6FE4A2EE-B223-4C57-A3EE-7F374DE21277}"/>
                    </a:ext>
                  </a:extLst>
                </p:cNvPr>
                <p:cNvSpPr/>
                <p:nvPr/>
              </p:nvSpPr>
              <p:spPr>
                <a:xfrm>
                  <a:off x="1082809" y="3054890"/>
                  <a:ext cx="233608" cy="233608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1" name="Rectangle 180">
                  <a:extLst>
                    <a:ext uri="{FF2B5EF4-FFF2-40B4-BE49-F238E27FC236}">
                      <a16:creationId xmlns:a16="http://schemas.microsoft.com/office/drawing/2014/main" id="{2064CAB4-C0AF-4E57-8C75-6B5EE1D564FE}"/>
                    </a:ext>
                  </a:extLst>
                </p:cNvPr>
                <p:cNvSpPr/>
                <p:nvPr/>
              </p:nvSpPr>
              <p:spPr>
                <a:xfrm>
                  <a:off x="1082809" y="3368879"/>
                  <a:ext cx="233608" cy="233608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2" name="Rectangle 181">
                  <a:extLst>
                    <a:ext uri="{FF2B5EF4-FFF2-40B4-BE49-F238E27FC236}">
                      <a16:creationId xmlns:a16="http://schemas.microsoft.com/office/drawing/2014/main" id="{17B99DFD-C050-43FD-88B8-730B8611E9D4}"/>
                    </a:ext>
                  </a:extLst>
                </p:cNvPr>
                <p:cNvSpPr/>
                <p:nvPr/>
              </p:nvSpPr>
              <p:spPr>
                <a:xfrm>
                  <a:off x="1082809" y="3689757"/>
                  <a:ext cx="233608" cy="233608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3" name="Rectangle 182">
                  <a:extLst>
                    <a:ext uri="{FF2B5EF4-FFF2-40B4-BE49-F238E27FC236}">
                      <a16:creationId xmlns:a16="http://schemas.microsoft.com/office/drawing/2014/main" id="{D747CBDF-2CD3-4A83-BA34-C9C670E430F1}"/>
                    </a:ext>
                  </a:extLst>
                </p:cNvPr>
                <p:cNvSpPr/>
                <p:nvPr/>
              </p:nvSpPr>
              <p:spPr>
                <a:xfrm>
                  <a:off x="1082809" y="4004059"/>
                  <a:ext cx="233608" cy="233608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4" name="Rectangle 183">
                  <a:extLst>
                    <a:ext uri="{FF2B5EF4-FFF2-40B4-BE49-F238E27FC236}">
                      <a16:creationId xmlns:a16="http://schemas.microsoft.com/office/drawing/2014/main" id="{D7C3747E-8524-497B-ACEB-7AC4929DBBFC}"/>
                    </a:ext>
                  </a:extLst>
                </p:cNvPr>
                <p:cNvSpPr/>
                <p:nvPr/>
              </p:nvSpPr>
              <p:spPr>
                <a:xfrm>
                  <a:off x="1082809" y="4318361"/>
                  <a:ext cx="233608" cy="233608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168" name="Isosceles Triangle 167">
              <a:extLst>
                <a:ext uri="{FF2B5EF4-FFF2-40B4-BE49-F238E27FC236}">
                  <a16:creationId xmlns:a16="http://schemas.microsoft.com/office/drawing/2014/main" id="{EC4DFD1A-19B9-42D9-836C-886439023285}"/>
                </a:ext>
              </a:extLst>
            </p:cNvPr>
            <p:cNvSpPr/>
            <p:nvPr/>
          </p:nvSpPr>
          <p:spPr>
            <a:xfrm rot="5400000">
              <a:off x="3870774" y="3260178"/>
              <a:ext cx="2093025" cy="405995"/>
            </a:xfrm>
            <a:prstGeom prst="triangle">
              <a:avLst>
                <a:gd name="adj" fmla="val 49008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Isosceles Triangle 168">
              <a:extLst>
                <a:ext uri="{FF2B5EF4-FFF2-40B4-BE49-F238E27FC236}">
                  <a16:creationId xmlns:a16="http://schemas.microsoft.com/office/drawing/2014/main" id="{4C839370-26DA-4E53-8F7D-C7C440160125}"/>
                </a:ext>
              </a:extLst>
            </p:cNvPr>
            <p:cNvSpPr/>
            <p:nvPr/>
          </p:nvSpPr>
          <p:spPr>
            <a:xfrm rot="5400000" flipV="1">
              <a:off x="4107011" y="3261965"/>
              <a:ext cx="4326022" cy="509724"/>
            </a:xfrm>
            <a:prstGeom prst="triangle">
              <a:avLst>
                <a:gd name="adj" fmla="val 4862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0" name="Group 169">
              <a:extLst>
                <a:ext uri="{FF2B5EF4-FFF2-40B4-BE49-F238E27FC236}">
                  <a16:creationId xmlns:a16="http://schemas.microsoft.com/office/drawing/2014/main" id="{12354116-5514-4466-84F0-6D20478F7737}"/>
                </a:ext>
              </a:extLst>
            </p:cNvPr>
            <p:cNvGrpSpPr/>
            <p:nvPr/>
          </p:nvGrpSpPr>
          <p:grpSpPr>
            <a:xfrm>
              <a:off x="5441706" y="3026708"/>
              <a:ext cx="233608" cy="861899"/>
              <a:chOff x="1082809" y="2740588"/>
              <a:chExt cx="233608" cy="861899"/>
            </a:xfrm>
            <a:solidFill>
              <a:schemeClr val="accent1">
                <a:lumMod val="40000"/>
                <a:lumOff val="60000"/>
              </a:schemeClr>
            </a:solidFill>
          </p:grpSpPr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3F30CD32-E223-4D46-814F-0F4E664BB650}"/>
                  </a:ext>
                </a:extLst>
              </p:cNvPr>
              <p:cNvSpPr/>
              <p:nvPr/>
            </p:nvSpPr>
            <p:spPr>
              <a:xfrm>
                <a:off x="1082809" y="2740588"/>
                <a:ext cx="233608" cy="233608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C98CD7E9-5F6A-4984-A065-9CF8A63E19DC}"/>
                  </a:ext>
                </a:extLst>
              </p:cNvPr>
              <p:cNvSpPr/>
              <p:nvPr/>
            </p:nvSpPr>
            <p:spPr>
              <a:xfrm>
                <a:off x="1082809" y="3054890"/>
                <a:ext cx="233608" cy="233608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474ADB9A-DD96-4571-B398-E992AEBDD412}"/>
                  </a:ext>
                </a:extLst>
              </p:cNvPr>
              <p:cNvSpPr/>
              <p:nvPr/>
            </p:nvSpPr>
            <p:spPr>
              <a:xfrm>
                <a:off x="1082809" y="3368879"/>
                <a:ext cx="233608" cy="233608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1" name="Isosceles Triangle 170">
              <a:extLst>
                <a:ext uri="{FF2B5EF4-FFF2-40B4-BE49-F238E27FC236}">
                  <a16:creationId xmlns:a16="http://schemas.microsoft.com/office/drawing/2014/main" id="{33F9AECB-4F8D-4F29-A87D-DE1498C8B25E}"/>
                </a:ext>
              </a:extLst>
            </p:cNvPr>
            <p:cNvSpPr/>
            <p:nvPr/>
          </p:nvSpPr>
          <p:spPr>
            <a:xfrm rot="5400000" flipV="1">
              <a:off x="4842212" y="3325644"/>
              <a:ext cx="820177" cy="264029"/>
            </a:xfrm>
            <a:prstGeom prst="triangle">
              <a:avLst>
                <a:gd name="adj" fmla="val 4862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Isosceles Triangle 171">
              <a:extLst>
                <a:ext uri="{FF2B5EF4-FFF2-40B4-BE49-F238E27FC236}">
                  <a16:creationId xmlns:a16="http://schemas.microsoft.com/office/drawing/2014/main" id="{B18A9E9B-CA04-46A3-9E01-CE07F49809AA}"/>
                </a:ext>
              </a:extLst>
            </p:cNvPr>
            <p:cNvSpPr/>
            <p:nvPr/>
          </p:nvSpPr>
          <p:spPr>
            <a:xfrm rot="5400000">
              <a:off x="5458308" y="3317945"/>
              <a:ext cx="820178" cy="279428"/>
            </a:xfrm>
            <a:prstGeom prst="triangle">
              <a:avLst>
                <a:gd name="adj" fmla="val 4862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9" name="Oval 198">
            <a:extLst>
              <a:ext uri="{FF2B5EF4-FFF2-40B4-BE49-F238E27FC236}">
                <a16:creationId xmlns:a16="http://schemas.microsoft.com/office/drawing/2014/main" id="{DF675E58-57F9-446C-89FD-A1C242D43551}"/>
              </a:ext>
            </a:extLst>
          </p:cNvPr>
          <p:cNvSpPr/>
          <p:nvPr/>
        </p:nvSpPr>
        <p:spPr>
          <a:xfrm>
            <a:off x="9215075" y="2896478"/>
            <a:ext cx="699495" cy="69949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+</a:t>
            </a:r>
          </a:p>
        </p:txBody>
      </p: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4FBE1C32-CD7D-40D0-BB7B-1A0C2F0870DF}"/>
              </a:ext>
            </a:extLst>
          </p:cNvPr>
          <p:cNvCxnSpPr>
            <a:stCxn id="144" idx="3"/>
            <a:endCxn id="199" idx="2"/>
          </p:cNvCxnSpPr>
          <p:nvPr/>
        </p:nvCxnSpPr>
        <p:spPr>
          <a:xfrm>
            <a:off x="8683345" y="2580271"/>
            <a:ext cx="531730" cy="6659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201">
            <a:extLst>
              <a:ext uri="{FF2B5EF4-FFF2-40B4-BE49-F238E27FC236}">
                <a16:creationId xmlns:a16="http://schemas.microsoft.com/office/drawing/2014/main" id="{9CC58EBC-123D-40B3-953A-6131F9A0316E}"/>
              </a:ext>
            </a:extLst>
          </p:cNvPr>
          <p:cNvCxnSpPr>
            <a:cxnSpLocks/>
            <a:stCxn id="178" idx="3"/>
            <a:endCxn id="199" idx="2"/>
          </p:cNvCxnSpPr>
          <p:nvPr/>
        </p:nvCxnSpPr>
        <p:spPr>
          <a:xfrm flipV="1">
            <a:off x="8683346" y="3246226"/>
            <a:ext cx="531729" cy="8583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TextBox 204">
            <a:extLst>
              <a:ext uri="{FF2B5EF4-FFF2-40B4-BE49-F238E27FC236}">
                <a16:creationId xmlns:a16="http://schemas.microsoft.com/office/drawing/2014/main" id="{C0CC39B6-C3EE-47DA-9F9A-1EEBAE05B5CE}"/>
              </a:ext>
            </a:extLst>
          </p:cNvPr>
          <p:cNvSpPr txBox="1"/>
          <p:nvPr/>
        </p:nvSpPr>
        <p:spPr>
          <a:xfrm rot="18248554">
            <a:off x="8535879" y="3739374"/>
            <a:ext cx="1105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weighted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46C749A4-4309-42A0-AF37-F9FC34C0A7C7}"/>
              </a:ext>
            </a:extLst>
          </p:cNvPr>
          <p:cNvSpPr txBox="1"/>
          <p:nvPr/>
        </p:nvSpPr>
        <p:spPr>
          <a:xfrm>
            <a:off x="7594590" y="5083279"/>
            <a:ext cx="197151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/>
              <a:t>Freeze original, update new weights. Now inference is slower :D</a:t>
            </a:r>
            <a:endParaRPr lang="en-US" sz="1100" i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54985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114</Words>
  <Application>Microsoft Office PowerPoint</Application>
  <PresentationFormat>Widescreen</PresentationFormat>
  <Paragraphs>27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Representation Learning</vt:lpstr>
      <vt:lpstr>PowerPoint Presentation</vt:lpstr>
      <vt:lpstr>LoRA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Representation Learning</dc:title>
  <dc:creator>Golam Md Muktadir</dc:creator>
  <cp:lastModifiedBy>Golam Md Muktadir</cp:lastModifiedBy>
  <cp:revision>15</cp:revision>
  <dcterms:created xsi:type="dcterms:W3CDTF">2024-07-07T18:31:55Z</dcterms:created>
  <dcterms:modified xsi:type="dcterms:W3CDTF">2024-07-10T01:41:41Z</dcterms:modified>
</cp:coreProperties>
</file>